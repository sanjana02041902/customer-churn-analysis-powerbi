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58" r:id="rId4"/>
    <p:sldId id="259" r:id="rId5"/>
    <p:sldId id="276"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2A65631-E9B9-446B-B62C-6CDCE5046B2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64B427-AEA1-41AA-8753-D0C237266147}"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15062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A65631-E9B9-446B-B62C-6CDCE5046B2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64B427-AEA1-41AA-8753-D0C237266147}" type="slidenum">
              <a:rPr lang="en-US" smtClean="0"/>
              <a:t>‹#›</a:t>
            </a:fld>
            <a:endParaRPr lang="en-US"/>
          </a:p>
        </p:txBody>
      </p:sp>
    </p:spTree>
    <p:extLst>
      <p:ext uri="{BB962C8B-B14F-4D97-AF65-F5344CB8AC3E}">
        <p14:creationId xmlns:p14="http://schemas.microsoft.com/office/powerpoint/2010/main" val="21461110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A65631-E9B9-446B-B62C-6CDCE5046B2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64B427-AEA1-41AA-8753-D0C237266147}" type="slidenum">
              <a:rPr lang="en-US" smtClean="0"/>
              <a:t>‹#›</a:t>
            </a:fld>
            <a:endParaRPr lang="en-US"/>
          </a:p>
        </p:txBody>
      </p:sp>
    </p:spTree>
    <p:extLst>
      <p:ext uri="{BB962C8B-B14F-4D97-AF65-F5344CB8AC3E}">
        <p14:creationId xmlns:p14="http://schemas.microsoft.com/office/powerpoint/2010/main" val="29597611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2A65631-E9B9-446B-B62C-6CDCE5046B22}" type="datetimeFigureOut">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64B427-AEA1-41AA-8753-D0C237266147}" type="slidenum">
              <a:rPr lang="en-US" smtClean="0"/>
              <a:t>‹#›</a:t>
            </a:fld>
            <a:endParaRPr lang="en-US"/>
          </a:p>
        </p:txBody>
      </p:sp>
    </p:spTree>
    <p:extLst>
      <p:ext uri="{BB962C8B-B14F-4D97-AF65-F5344CB8AC3E}">
        <p14:creationId xmlns:p14="http://schemas.microsoft.com/office/powerpoint/2010/main" val="8703931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2A65631-E9B9-446B-B62C-6CDCE5046B22}" type="datetimeFigureOut">
              <a:rPr lang="en-US" smtClean="0"/>
              <a:t>6/6/2026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64B427-AEA1-41AA-8753-D0C237266147}" type="slidenum">
              <a:rPr lang="en-US" smtClean="0"/>
              <a:t>‹#›</a:t>
            </a:fld>
            <a:endParaRPr lang="en-US"/>
          </a:p>
        </p:txBody>
      </p:sp>
    </p:spTree>
    <p:extLst>
      <p:ext uri="{BB962C8B-B14F-4D97-AF65-F5344CB8AC3E}">
        <p14:creationId xmlns:p14="http://schemas.microsoft.com/office/powerpoint/2010/main" val="515688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2A65631-E9B9-446B-B62C-6CDCE5046B22}" type="datetimeFigureOut">
              <a:rPr lang="en-US" smtClean="0"/>
              <a:t>6/6/2026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64B427-AEA1-41AA-8753-D0C237266147}" type="slidenum">
              <a:rPr lang="en-US" smtClean="0"/>
              <a:t>‹#›</a:t>
            </a:fld>
            <a:endParaRPr lang="en-US"/>
          </a:p>
        </p:txBody>
      </p:sp>
    </p:spTree>
    <p:extLst>
      <p:ext uri="{BB962C8B-B14F-4D97-AF65-F5344CB8AC3E}">
        <p14:creationId xmlns:p14="http://schemas.microsoft.com/office/powerpoint/2010/main" val="38809686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A65631-E9B9-446B-B62C-6CDCE5046B22}" type="datetimeFigureOut">
              <a:rPr lang="en-US" smtClean="0"/>
              <a:t>6/6/2026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64B427-AEA1-41AA-8753-D0C237266147}" type="slidenum">
              <a:rPr lang="en-US" smtClean="0"/>
              <a:t>‹#›</a:t>
            </a:fld>
            <a:endParaRPr lang="en-US"/>
          </a:p>
        </p:txBody>
      </p:sp>
    </p:spTree>
    <p:extLst>
      <p:ext uri="{BB962C8B-B14F-4D97-AF65-F5344CB8AC3E}">
        <p14:creationId xmlns:p14="http://schemas.microsoft.com/office/powerpoint/2010/main" val="144928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A65631-E9B9-446B-B62C-6CDCE5046B22}" type="datetimeFigureOut">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64B427-AEA1-41AA-8753-D0C237266147}" type="slidenum">
              <a:rPr lang="en-US" smtClean="0"/>
              <a:t>‹#›</a:t>
            </a:fld>
            <a:endParaRPr lang="en-US"/>
          </a:p>
        </p:txBody>
      </p:sp>
    </p:spTree>
    <p:extLst>
      <p:ext uri="{BB962C8B-B14F-4D97-AF65-F5344CB8AC3E}">
        <p14:creationId xmlns:p14="http://schemas.microsoft.com/office/powerpoint/2010/main" val="56182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A65631-E9B9-446B-B62C-6CDCE5046B22}" type="datetimeFigureOut">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64B427-AEA1-41AA-8753-D0C237266147}" type="slidenum">
              <a:rPr lang="en-US" smtClean="0"/>
              <a:t>‹#›</a:t>
            </a:fld>
            <a:endParaRPr lang="en-US"/>
          </a:p>
        </p:txBody>
      </p:sp>
    </p:spTree>
    <p:extLst>
      <p:ext uri="{BB962C8B-B14F-4D97-AF65-F5344CB8AC3E}">
        <p14:creationId xmlns:p14="http://schemas.microsoft.com/office/powerpoint/2010/main" val="38857399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72A65631-E9B9-446B-B62C-6CDCE5046B22}" type="datetimeFigureOut">
              <a:rPr lang="en-US" smtClean="0"/>
              <a:t>6/6/2026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64B427-AEA1-41AA-8753-D0C237266147}" type="slidenum">
              <a:rPr lang="en-US" smtClean="0"/>
              <a:t>‹#›</a:t>
            </a:fld>
            <a:endParaRPr lang="en-US"/>
          </a:p>
        </p:txBody>
      </p:sp>
    </p:spTree>
    <p:extLst>
      <p:ext uri="{BB962C8B-B14F-4D97-AF65-F5344CB8AC3E}">
        <p14:creationId xmlns:p14="http://schemas.microsoft.com/office/powerpoint/2010/main" val="15563851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A65631-E9B9-446B-B62C-6CDCE5046B2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64B427-AEA1-41AA-8753-D0C237266147}" type="slidenum">
              <a:rPr lang="en-US" smtClean="0"/>
              <a:t>‹#›</a:t>
            </a:fld>
            <a:endParaRPr lang="en-US"/>
          </a:p>
        </p:txBody>
      </p:sp>
    </p:spTree>
    <p:extLst>
      <p:ext uri="{BB962C8B-B14F-4D97-AF65-F5344CB8AC3E}">
        <p14:creationId xmlns:p14="http://schemas.microsoft.com/office/powerpoint/2010/main" val="1828075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A65631-E9B9-446B-B62C-6CDCE5046B2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64B427-AEA1-41AA-8753-D0C237266147}"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6889667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A65631-E9B9-446B-B62C-6CDCE5046B2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64B427-AEA1-41AA-8753-D0C237266147}" type="slidenum">
              <a:rPr lang="en-US" smtClean="0"/>
              <a:t>‹#›</a:t>
            </a:fld>
            <a:endParaRPr lang="en-US"/>
          </a:p>
        </p:txBody>
      </p:sp>
    </p:spTree>
    <p:extLst>
      <p:ext uri="{BB962C8B-B14F-4D97-AF65-F5344CB8AC3E}">
        <p14:creationId xmlns:p14="http://schemas.microsoft.com/office/powerpoint/2010/main" val="17626920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A65631-E9B9-446B-B62C-6CDCE5046B2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64B427-AEA1-41AA-8753-D0C237266147}"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0517658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2A65631-E9B9-446B-B62C-6CDCE5046B2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64B427-AEA1-41AA-8753-D0C237266147}" type="slidenum">
              <a:rPr lang="en-US" smtClean="0"/>
              <a:t>‹#›</a:t>
            </a:fld>
            <a:endParaRPr lang="en-US"/>
          </a:p>
        </p:txBody>
      </p:sp>
    </p:spTree>
    <p:extLst>
      <p:ext uri="{BB962C8B-B14F-4D97-AF65-F5344CB8AC3E}">
        <p14:creationId xmlns:p14="http://schemas.microsoft.com/office/powerpoint/2010/main" val="10657704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A65631-E9B9-446B-B62C-6CDCE5046B2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64B427-AEA1-41AA-8753-D0C237266147}" type="slidenum">
              <a:rPr lang="en-US" smtClean="0"/>
              <a:t>‹#›</a:t>
            </a:fld>
            <a:endParaRPr lang="en-US"/>
          </a:p>
        </p:txBody>
      </p:sp>
    </p:spTree>
    <p:extLst>
      <p:ext uri="{BB962C8B-B14F-4D97-AF65-F5344CB8AC3E}">
        <p14:creationId xmlns:p14="http://schemas.microsoft.com/office/powerpoint/2010/main" val="20023805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2A65631-E9B9-446B-B62C-6CDCE5046B22}" type="datetimeFigureOut">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64B427-AEA1-41AA-8753-D0C237266147}" type="slidenum">
              <a:rPr lang="en-US" smtClean="0"/>
              <a:t>‹#›</a:t>
            </a:fld>
            <a:endParaRPr lang="en-US"/>
          </a:p>
        </p:txBody>
      </p:sp>
    </p:spTree>
    <p:extLst>
      <p:ext uri="{BB962C8B-B14F-4D97-AF65-F5344CB8AC3E}">
        <p14:creationId xmlns:p14="http://schemas.microsoft.com/office/powerpoint/2010/main" val="1102457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72A65631-E9B9-446B-B62C-6CDCE5046B22}" type="datetimeFigureOut">
              <a:rPr lang="en-US" smtClean="0"/>
              <a:t>6/6/2026</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8364B427-AEA1-41AA-8753-D0C237266147}" type="slidenum">
              <a:rPr lang="en-US" smtClean="0"/>
              <a:t>‹#›</a:t>
            </a:fld>
            <a:endParaRPr lang="en-US"/>
          </a:p>
        </p:txBody>
      </p:sp>
    </p:spTree>
    <p:extLst>
      <p:ext uri="{BB962C8B-B14F-4D97-AF65-F5344CB8AC3E}">
        <p14:creationId xmlns:p14="http://schemas.microsoft.com/office/powerpoint/2010/main" val="1343242234"/>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10000">
              <a:schemeClr val="bg2">
                <a:tint val="97000"/>
                <a:hueMod val="92000"/>
                <a:satMod val="169000"/>
                <a:lumMod val="164000"/>
              </a:schemeClr>
            </a:gs>
            <a:gs pos="100000">
              <a:schemeClr val="bg2">
                <a:shade val="96000"/>
                <a:satMod val="120000"/>
                <a:lumMod val="90000"/>
              </a:schemeClr>
            </a:gs>
          </a:gsLst>
          <a:lin ang="6120000" scaled="1"/>
        </a:gradFill>
        <a:effectLst/>
      </p:bgPr>
    </p:bg>
    <p:spTree>
      <p:nvGrpSpPr>
        <p:cNvPr id="1" name=""/>
        <p:cNvGrpSpPr/>
        <p:nvPr/>
      </p:nvGrpSpPr>
      <p:grpSpPr>
        <a:xfrm>
          <a:off x="0" y="0"/>
          <a:ext cx="0" cy="0"/>
          <a:chOff x="0" y="0"/>
          <a:chExt cx="0" cy="0"/>
        </a:xfrm>
      </p:grpSpPr>
      <p:cxnSp>
        <p:nvCxnSpPr>
          <p:cNvPr id="40" name="Straight Connector 39">
            <a:extLst>
              <a:ext uri="{FF2B5EF4-FFF2-40B4-BE49-F238E27FC236}">
                <a16:creationId xmlns:a16="http://schemas.microsoft.com/office/drawing/2014/main" id="{8FD48FB1-66D8-4676-B0AA-C139A1DB78D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F033F5AE-6728-4F19-8DED-658E674B31B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82C7D74A-18BA-4709-A808-44E8815C443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6" name="Straight Connector 45">
            <a:extLst>
              <a:ext uri="{FF2B5EF4-FFF2-40B4-BE49-F238E27FC236}">
                <a16:creationId xmlns:a16="http://schemas.microsoft.com/office/drawing/2014/main" id="{B5164A3F-1561-4039-8185-AB0EEB713EA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8" name="Straight Connector 47">
            <a:extLst>
              <a:ext uri="{FF2B5EF4-FFF2-40B4-BE49-F238E27FC236}">
                <a16:creationId xmlns:a16="http://schemas.microsoft.com/office/drawing/2014/main" id="{2A35DB53-42BE-460E-9CA1-1294C98463C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 useBgFill="1">
        <p:nvSpPr>
          <p:cNvPr id="50" name="Rectangle 49">
            <a:extLst>
              <a:ext uri="{FF2B5EF4-FFF2-40B4-BE49-F238E27FC236}">
                <a16:creationId xmlns:a16="http://schemas.microsoft.com/office/drawing/2014/main" id="{1511F85B-5967-428B-BE8B-819A79813D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6FC7BBE5-A5A5-2650-2490-7C3D68FD41AE}"/>
              </a:ext>
            </a:extLst>
          </p:cNvPr>
          <p:cNvPicPr>
            <a:picLocks noChangeAspect="1"/>
          </p:cNvPicPr>
          <p:nvPr/>
        </p:nvPicPr>
        <p:blipFill>
          <a:blip r:embed="rId2">
            <a:grayscl/>
          </a:blip>
          <a:srcRect l="11556" r="-1" b="-1"/>
          <a:stretch>
            <a:fillRect/>
          </a:stretch>
        </p:blipFill>
        <p:spPr>
          <a:xfrm>
            <a:off x="-3155" y="-9134"/>
            <a:ext cx="12191980" cy="6857990"/>
          </a:xfrm>
          <a:prstGeom prst="rect">
            <a:avLst/>
          </a:prstGeom>
        </p:spPr>
      </p:pic>
      <p:sp>
        <p:nvSpPr>
          <p:cNvPr id="52" name="Snip Diagonal Corner Rectangle 6">
            <a:extLst>
              <a:ext uri="{FF2B5EF4-FFF2-40B4-BE49-F238E27FC236}">
                <a16:creationId xmlns:a16="http://schemas.microsoft.com/office/drawing/2014/main" id="{28DA8D05-CF65-4382-8BF4-2A08754DB5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91075" cy="6857998"/>
          </a:xfrm>
          <a:prstGeom prst="snip2DiagRect">
            <a:avLst>
              <a:gd name="adj1" fmla="val 0"/>
              <a:gd name="adj2" fmla="val 42414"/>
            </a:avLst>
          </a:prstGeom>
          <a:gradFill>
            <a:gsLst>
              <a:gs pos="2000">
                <a:schemeClr val="dk2">
                  <a:tint val="97000"/>
                  <a:hueMod val="92000"/>
                  <a:satMod val="169000"/>
                  <a:lumMod val="164000"/>
                  <a:alpha val="79000"/>
                </a:schemeClr>
              </a:gs>
              <a:gs pos="100000">
                <a:schemeClr val="dk2">
                  <a:shade val="96000"/>
                  <a:satMod val="120000"/>
                  <a:lumMod val="90000"/>
                  <a:alpha val="88000"/>
                </a:schemeClr>
              </a:gs>
            </a:gsLst>
          </a:gradFill>
          <a:ln>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sp>
        <p:nvSpPr>
          <p:cNvPr id="7" name="TextBox 6">
            <a:extLst>
              <a:ext uri="{FF2B5EF4-FFF2-40B4-BE49-F238E27FC236}">
                <a16:creationId xmlns:a16="http://schemas.microsoft.com/office/drawing/2014/main" id="{4DCDA09F-0973-FE36-425C-C8B236011073}"/>
              </a:ext>
            </a:extLst>
          </p:cNvPr>
          <p:cNvSpPr txBox="1"/>
          <p:nvPr/>
        </p:nvSpPr>
        <p:spPr>
          <a:xfrm>
            <a:off x="571274" y="2509284"/>
            <a:ext cx="6767736" cy="2486049"/>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400" b="1" u="sng" cap="all" dirty="0">
                <a:ln w="3175" cmpd="sng">
                  <a:noFill/>
                </a:ln>
                <a:solidFill>
                  <a:schemeClr val="bg1"/>
                </a:solidFill>
                <a:latin typeface="+mj-lt"/>
                <a:ea typeface="+mj-ea"/>
                <a:cs typeface="+mj-cs"/>
              </a:rPr>
              <a:t>Analyzing Customer Behavior, Churn Patterns, and Retention Opportunities Using Power BI</a:t>
            </a:r>
          </a:p>
        </p:txBody>
      </p:sp>
      <p:sp>
        <p:nvSpPr>
          <p:cNvPr id="11" name="TextBox 10">
            <a:extLst>
              <a:ext uri="{FF2B5EF4-FFF2-40B4-BE49-F238E27FC236}">
                <a16:creationId xmlns:a16="http://schemas.microsoft.com/office/drawing/2014/main" id="{C6C9A8CC-B0F4-332D-F82F-7867E07891AE}"/>
              </a:ext>
            </a:extLst>
          </p:cNvPr>
          <p:cNvSpPr txBox="1"/>
          <p:nvPr/>
        </p:nvSpPr>
        <p:spPr>
          <a:xfrm>
            <a:off x="651956" y="5181600"/>
            <a:ext cx="5133408" cy="914401"/>
          </a:xfrm>
          <a:prstGeom prst="rect">
            <a:avLst/>
          </a:prstGeom>
        </p:spPr>
        <p:txBody>
          <a:bodyPr vert="horz" lIns="91440" tIns="45720" rIns="91440" bIns="45720" rtlCol="0" anchor="t">
            <a:normAutofit/>
          </a:bodyPr>
          <a:lstStyle/>
          <a:p>
            <a:pPr>
              <a:spcBef>
                <a:spcPct val="20000"/>
              </a:spcBef>
              <a:spcAft>
                <a:spcPts val="600"/>
              </a:spcAft>
              <a:buClr>
                <a:schemeClr val="tx1"/>
              </a:buClr>
              <a:buSzPct val="80000"/>
            </a:pPr>
            <a:r>
              <a:rPr lang="en-US" sz="2100" dirty="0">
                <a:solidFill>
                  <a:schemeClr val="bg1"/>
                </a:solidFill>
              </a:rPr>
              <a:t>-Sanjana Sharma</a:t>
            </a:r>
          </a:p>
        </p:txBody>
      </p:sp>
      <p:grpSp>
        <p:nvGrpSpPr>
          <p:cNvPr id="54" name="Group 53">
            <a:extLst>
              <a:ext uri="{FF2B5EF4-FFF2-40B4-BE49-F238E27FC236}">
                <a16:creationId xmlns:a16="http://schemas.microsoft.com/office/drawing/2014/main" id="{E0C6252F-9468-4CFE-8A28-0DFE703FB7B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11344" y="9144"/>
            <a:ext cx="6080656" cy="6163733"/>
            <a:chOff x="6108170" y="8467"/>
            <a:chExt cx="6080656" cy="6163733"/>
          </a:xfrm>
        </p:grpSpPr>
        <p:cxnSp>
          <p:nvCxnSpPr>
            <p:cNvPr id="55" name="Straight Connector 54">
              <a:extLst>
                <a:ext uri="{FF2B5EF4-FFF2-40B4-BE49-F238E27FC236}">
                  <a16:creationId xmlns:a16="http://schemas.microsoft.com/office/drawing/2014/main" id="{F873F8F7-6FEE-4BB3-94A3-78B5C2FF1D8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FF5B2264-1E71-4A5B-ABFC-2832FD78EC9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Straight Connector 56">
              <a:extLst>
                <a:ext uri="{FF2B5EF4-FFF2-40B4-BE49-F238E27FC236}">
                  <a16:creationId xmlns:a16="http://schemas.microsoft.com/office/drawing/2014/main" id="{C6E0A76D-9460-46B8-BD58-9E9BF9CEB3F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47E3790F-67C5-42CD-B933-75C6F3250AA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Straight Connector 58">
              <a:extLst>
                <a:ext uri="{FF2B5EF4-FFF2-40B4-BE49-F238E27FC236}">
                  <a16:creationId xmlns:a16="http://schemas.microsoft.com/office/drawing/2014/main" id="{4EF3C2C4-F6BB-4D14-8577-3649162D077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27836365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A7AFE41-DCCB-E90E-ECB8-A739DEC85EDB}"/>
              </a:ext>
            </a:extLst>
          </p:cNvPr>
          <p:cNvSpPr txBox="1"/>
          <p:nvPr/>
        </p:nvSpPr>
        <p:spPr>
          <a:xfrm>
            <a:off x="641022" y="1495487"/>
            <a:ext cx="6881567" cy="4832092"/>
          </a:xfrm>
          <a:prstGeom prst="rect">
            <a:avLst/>
          </a:prstGeom>
          <a:noFill/>
        </p:spPr>
        <p:txBody>
          <a:bodyPr wrap="square">
            <a:spAutoFit/>
          </a:bodyPr>
          <a:lstStyle/>
          <a:p>
            <a:r>
              <a:rPr lang="en-US" sz="2800" dirty="0">
                <a:solidFill>
                  <a:schemeClr val="bg1"/>
                </a:solidFill>
              </a:rPr>
              <a:t>1.  Introduction to CRM </a:t>
            </a:r>
            <a:br>
              <a:rPr lang="en-US" sz="2800" dirty="0">
                <a:solidFill>
                  <a:schemeClr val="bg1"/>
                </a:solidFill>
              </a:rPr>
            </a:br>
            <a:r>
              <a:rPr lang="en-US" sz="2800" dirty="0">
                <a:solidFill>
                  <a:schemeClr val="bg1"/>
                </a:solidFill>
              </a:rPr>
              <a:t>2.  Problem Statement </a:t>
            </a:r>
            <a:br>
              <a:rPr lang="en-US" sz="2800" dirty="0">
                <a:solidFill>
                  <a:schemeClr val="bg1"/>
                </a:solidFill>
              </a:rPr>
            </a:br>
            <a:r>
              <a:rPr lang="en-US" sz="2800" dirty="0">
                <a:solidFill>
                  <a:schemeClr val="bg1"/>
                </a:solidFill>
              </a:rPr>
              <a:t>3.  Database Schema</a:t>
            </a:r>
            <a:br>
              <a:rPr lang="en-US" sz="2800" dirty="0">
                <a:solidFill>
                  <a:schemeClr val="bg1"/>
                </a:solidFill>
              </a:rPr>
            </a:br>
            <a:r>
              <a:rPr lang="en-US" sz="2800" dirty="0">
                <a:solidFill>
                  <a:schemeClr val="bg1"/>
                </a:solidFill>
              </a:rPr>
              <a:t>4.  Dataset Features</a:t>
            </a:r>
            <a:br>
              <a:rPr lang="en-US" sz="2800" dirty="0">
                <a:solidFill>
                  <a:schemeClr val="bg1"/>
                </a:solidFill>
              </a:rPr>
            </a:br>
            <a:r>
              <a:rPr lang="en-US" sz="2800" dirty="0">
                <a:solidFill>
                  <a:schemeClr val="bg1"/>
                </a:solidFill>
              </a:rPr>
              <a:t>5.  Project Objectives </a:t>
            </a:r>
            <a:br>
              <a:rPr lang="en-US" sz="2800" dirty="0">
                <a:solidFill>
                  <a:schemeClr val="bg1"/>
                </a:solidFill>
              </a:rPr>
            </a:br>
            <a:r>
              <a:rPr lang="en-US" sz="2800" dirty="0">
                <a:solidFill>
                  <a:schemeClr val="bg1"/>
                </a:solidFill>
              </a:rPr>
              <a:t>6.  Methodology </a:t>
            </a:r>
            <a:br>
              <a:rPr lang="en-US" sz="2800" dirty="0">
                <a:solidFill>
                  <a:schemeClr val="bg1"/>
                </a:solidFill>
              </a:rPr>
            </a:br>
            <a:r>
              <a:rPr lang="en-US" sz="2800" dirty="0">
                <a:solidFill>
                  <a:schemeClr val="bg1"/>
                </a:solidFill>
              </a:rPr>
              <a:t>7.  Analytical Approach </a:t>
            </a:r>
            <a:br>
              <a:rPr lang="en-US" sz="2800" dirty="0">
                <a:solidFill>
                  <a:schemeClr val="bg1"/>
                </a:solidFill>
              </a:rPr>
            </a:br>
            <a:r>
              <a:rPr lang="en-US" sz="2800" dirty="0">
                <a:solidFill>
                  <a:schemeClr val="bg1"/>
                </a:solidFill>
              </a:rPr>
              <a:t>8.  Key Insights &amp; Findings </a:t>
            </a:r>
            <a:br>
              <a:rPr lang="en-US" sz="2800" dirty="0">
                <a:solidFill>
                  <a:schemeClr val="bg1"/>
                </a:solidFill>
              </a:rPr>
            </a:br>
            <a:r>
              <a:rPr lang="en-US" sz="2800" dirty="0">
                <a:solidFill>
                  <a:schemeClr val="bg1"/>
                </a:solidFill>
              </a:rPr>
              <a:t>9.  Dashboards </a:t>
            </a:r>
            <a:br>
              <a:rPr lang="en-US" sz="2800" dirty="0">
                <a:solidFill>
                  <a:schemeClr val="bg1"/>
                </a:solidFill>
              </a:rPr>
            </a:br>
            <a:r>
              <a:rPr lang="en-US" sz="2800" dirty="0">
                <a:solidFill>
                  <a:schemeClr val="bg1"/>
                </a:solidFill>
              </a:rPr>
              <a:t>10.  </a:t>
            </a:r>
            <a:r>
              <a:rPr lang="en-US" sz="2800" dirty="0" err="1">
                <a:solidFill>
                  <a:schemeClr val="bg1"/>
                </a:solidFill>
              </a:rPr>
              <a:t>Conclusion&amp;Recommendations</a:t>
            </a:r>
            <a:r>
              <a:rPr lang="en-US" sz="2800" dirty="0">
                <a:solidFill>
                  <a:schemeClr val="bg1"/>
                </a:solidFill>
              </a:rPr>
              <a:t> </a:t>
            </a:r>
            <a:br>
              <a:rPr lang="en-US" sz="2800" dirty="0">
                <a:solidFill>
                  <a:schemeClr val="bg1"/>
                </a:solidFill>
              </a:rPr>
            </a:br>
            <a:r>
              <a:rPr lang="en-US" sz="2800" dirty="0">
                <a:solidFill>
                  <a:schemeClr val="bg1"/>
                </a:solidFill>
              </a:rPr>
              <a:t>11.  Reference</a:t>
            </a:r>
          </a:p>
        </p:txBody>
      </p:sp>
      <p:sp>
        <p:nvSpPr>
          <p:cNvPr id="5" name="TextBox 4">
            <a:extLst>
              <a:ext uri="{FF2B5EF4-FFF2-40B4-BE49-F238E27FC236}">
                <a16:creationId xmlns:a16="http://schemas.microsoft.com/office/drawing/2014/main" id="{F341E4EA-7723-0449-35DC-24E476551CD2}"/>
              </a:ext>
            </a:extLst>
          </p:cNvPr>
          <p:cNvSpPr txBox="1"/>
          <p:nvPr/>
        </p:nvSpPr>
        <p:spPr>
          <a:xfrm>
            <a:off x="1395168" y="362087"/>
            <a:ext cx="8776354" cy="707886"/>
          </a:xfrm>
          <a:prstGeom prst="rect">
            <a:avLst/>
          </a:prstGeom>
          <a:noFill/>
        </p:spPr>
        <p:txBody>
          <a:bodyPr wrap="square">
            <a:spAutoFit/>
          </a:bodyPr>
          <a:lstStyle/>
          <a:p>
            <a:pPr algn="ctr"/>
            <a:r>
              <a:rPr lang="en-US" sz="4000" b="1" u="sng" dirty="0">
                <a:solidFill>
                  <a:schemeClr val="bg1"/>
                </a:solidFill>
                <a:effectLst>
                  <a:outerShdw blurRad="38100" dist="38100" dir="2700000" algn="tl">
                    <a:srgbClr val="000000">
                      <a:alpha val="43137"/>
                    </a:srgbClr>
                  </a:outerShdw>
                </a:effectLst>
              </a:rPr>
              <a:t>Agenda</a:t>
            </a:r>
            <a:r>
              <a:rPr lang="en-US" dirty="0"/>
              <a:t> </a:t>
            </a:r>
          </a:p>
        </p:txBody>
      </p:sp>
    </p:spTree>
    <p:extLst>
      <p:ext uri="{BB962C8B-B14F-4D97-AF65-F5344CB8AC3E}">
        <p14:creationId xmlns:p14="http://schemas.microsoft.com/office/powerpoint/2010/main" val="1935067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44D8588-7A94-071D-51F1-96B17A7FF74D}"/>
              </a:ext>
            </a:extLst>
          </p:cNvPr>
          <p:cNvSpPr txBox="1"/>
          <p:nvPr/>
        </p:nvSpPr>
        <p:spPr>
          <a:xfrm>
            <a:off x="697582" y="1492612"/>
            <a:ext cx="5486401" cy="4524315"/>
          </a:xfrm>
          <a:prstGeom prst="rect">
            <a:avLst/>
          </a:prstGeom>
          <a:noFill/>
        </p:spPr>
        <p:txBody>
          <a:bodyPr wrap="square">
            <a:spAutoFit/>
          </a:bodyPr>
          <a:lstStyle/>
          <a:p>
            <a:pPr>
              <a:buNone/>
            </a:pPr>
            <a:r>
              <a:rPr lang="en-US" dirty="0">
                <a:solidFill>
                  <a:schemeClr val="bg1"/>
                </a:solidFill>
              </a:rPr>
              <a:t>• CRM helps organizations manage customer relationships and improve business performance. </a:t>
            </a:r>
            <a:br>
              <a:rPr lang="en-US" dirty="0">
                <a:solidFill>
                  <a:schemeClr val="bg1"/>
                </a:solidFill>
              </a:rPr>
            </a:br>
            <a:br>
              <a:rPr lang="en-US" dirty="0">
                <a:solidFill>
                  <a:schemeClr val="bg1"/>
                </a:solidFill>
              </a:rPr>
            </a:br>
            <a:r>
              <a:rPr lang="en-US" dirty="0">
                <a:solidFill>
                  <a:schemeClr val="bg1"/>
                </a:solidFill>
              </a:rPr>
              <a:t>• This banking CRM project uses SQL and Power BI to analyze customer data and generate business insights. </a:t>
            </a:r>
            <a:br>
              <a:rPr lang="en-US" dirty="0">
                <a:solidFill>
                  <a:schemeClr val="bg1"/>
                </a:solidFill>
              </a:rPr>
            </a:br>
            <a:br>
              <a:rPr lang="en-US" dirty="0">
                <a:solidFill>
                  <a:schemeClr val="bg1"/>
                </a:solidFill>
              </a:rPr>
            </a:br>
            <a:r>
              <a:rPr lang="en-US" dirty="0">
                <a:solidFill>
                  <a:schemeClr val="bg1"/>
                </a:solidFill>
              </a:rPr>
              <a:t>• The analysis focuses on customer demographics, transaction patterns, active customers, and churn behavior.</a:t>
            </a:r>
            <a:br>
              <a:rPr lang="en-US" dirty="0">
                <a:solidFill>
                  <a:schemeClr val="bg1"/>
                </a:solidFill>
              </a:rPr>
            </a:br>
            <a:br>
              <a:rPr lang="en-US" dirty="0">
                <a:solidFill>
                  <a:schemeClr val="bg1"/>
                </a:solidFill>
              </a:rPr>
            </a:br>
            <a:r>
              <a:rPr lang="en-US" dirty="0">
                <a:solidFill>
                  <a:schemeClr val="bg1"/>
                </a:solidFill>
              </a:rPr>
              <a:t>• The objective is to identify churn drivers, understand customer behavior, and support customer retention through data-driven recommendations.</a:t>
            </a:r>
          </a:p>
        </p:txBody>
      </p:sp>
      <p:sp>
        <p:nvSpPr>
          <p:cNvPr id="5" name="TextBox 4">
            <a:extLst>
              <a:ext uri="{FF2B5EF4-FFF2-40B4-BE49-F238E27FC236}">
                <a16:creationId xmlns:a16="http://schemas.microsoft.com/office/drawing/2014/main" id="{5F21A383-3583-FD18-CAE4-AE3C023A9C3C}"/>
              </a:ext>
            </a:extLst>
          </p:cNvPr>
          <p:cNvSpPr txBox="1"/>
          <p:nvPr/>
        </p:nvSpPr>
        <p:spPr>
          <a:xfrm>
            <a:off x="697582" y="352661"/>
            <a:ext cx="10699423" cy="707886"/>
          </a:xfrm>
          <a:prstGeom prst="rect">
            <a:avLst/>
          </a:prstGeom>
          <a:noFill/>
        </p:spPr>
        <p:txBody>
          <a:bodyPr wrap="square">
            <a:spAutoFit/>
          </a:bodyPr>
          <a:lstStyle/>
          <a:p>
            <a:pPr algn="ctr"/>
            <a:r>
              <a:rPr lang="en" sz="4000" b="1" u="sng" dirty="0">
                <a:solidFill>
                  <a:schemeClr val="bg1"/>
                </a:solidFill>
                <a:effectLst>
                  <a:outerShdw blurRad="38100" dist="38100" dir="2700000" algn="tl">
                    <a:srgbClr val="000000">
                      <a:alpha val="43137"/>
                    </a:srgbClr>
                  </a:outerShdw>
                </a:effectLst>
              </a:rPr>
              <a:t>Introduction to CRM</a:t>
            </a:r>
            <a:endParaRPr lang="en-US" sz="4000" b="1" u="sng" dirty="0">
              <a:solidFill>
                <a:schemeClr val="bg1"/>
              </a:solidFill>
              <a:effectLst>
                <a:outerShdw blurRad="38100" dist="38100" dir="2700000" algn="tl">
                  <a:srgbClr val="000000">
                    <a:alpha val="43137"/>
                  </a:srgbClr>
                </a:outerShdw>
              </a:effectLst>
            </a:endParaRPr>
          </a:p>
        </p:txBody>
      </p:sp>
      <p:pic>
        <p:nvPicPr>
          <p:cNvPr id="7" name="Picture 6">
            <a:extLst>
              <a:ext uri="{FF2B5EF4-FFF2-40B4-BE49-F238E27FC236}">
                <a16:creationId xmlns:a16="http://schemas.microsoft.com/office/drawing/2014/main" id="{3662F05A-2AEE-EBE2-6D68-7E0D8F01D4AF}"/>
              </a:ext>
            </a:extLst>
          </p:cNvPr>
          <p:cNvPicPr>
            <a:picLocks noChangeAspect="1"/>
          </p:cNvPicPr>
          <p:nvPr/>
        </p:nvPicPr>
        <p:blipFill>
          <a:blip r:embed="rId2"/>
          <a:stretch>
            <a:fillRect/>
          </a:stretch>
        </p:blipFill>
        <p:spPr>
          <a:xfrm>
            <a:off x="6966408" y="1695613"/>
            <a:ext cx="4357463" cy="3800214"/>
          </a:xfrm>
          <a:prstGeom prst="rect">
            <a:avLst/>
          </a:prstGeom>
        </p:spPr>
      </p:pic>
    </p:spTree>
    <p:extLst>
      <p:ext uri="{BB962C8B-B14F-4D97-AF65-F5344CB8AC3E}">
        <p14:creationId xmlns:p14="http://schemas.microsoft.com/office/powerpoint/2010/main" val="1736775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15D387B-F1F9-9C3E-A8E1-7096A3AB392F}"/>
              </a:ext>
            </a:extLst>
          </p:cNvPr>
          <p:cNvSpPr txBox="1"/>
          <p:nvPr/>
        </p:nvSpPr>
        <p:spPr>
          <a:xfrm>
            <a:off x="6202836" y="1634014"/>
            <a:ext cx="5301006" cy="4524315"/>
          </a:xfrm>
          <a:prstGeom prst="rect">
            <a:avLst/>
          </a:prstGeom>
          <a:noFill/>
        </p:spPr>
        <p:txBody>
          <a:bodyPr wrap="square">
            <a:spAutoFit/>
          </a:bodyPr>
          <a:lstStyle/>
          <a:p>
            <a:pPr>
              <a:buNone/>
            </a:pPr>
            <a:r>
              <a:rPr lang="en-US" dirty="0">
                <a:solidFill>
                  <a:schemeClr val="bg1"/>
                </a:solidFill>
              </a:rPr>
              <a:t>• The project analyzes banking customer data to understand customer behavior and identify factors contributing to customer churn. </a:t>
            </a:r>
            <a:br>
              <a:rPr lang="en-US" dirty="0">
                <a:solidFill>
                  <a:schemeClr val="bg1"/>
                </a:solidFill>
              </a:rPr>
            </a:br>
            <a:br>
              <a:rPr lang="en-US" dirty="0">
                <a:solidFill>
                  <a:schemeClr val="bg1"/>
                </a:solidFill>
              </a:rPr>
            </a:br>
            <a:r>
              <a:rPr lang="en-US" dirty="0">
                <a:solidFill>
                  <a:schemeClr val="bg1"/>
                </a:solidFill>
              </a:rPr>
              <a:t>• Data includes customer demographics, transaction details, churn information, and active customer profiles. </a:t>
            </a:r>
            <a:br>
              <a:rPr lang="en-US" dirty="0">
                <a:solidFill>
                  <a:schemeClr val="bg1"/>
                </a:solidFill>
              </a:rPr>
            </a:br>
            <a:br>
              <a:rPr lang="en-US" dirty="0">
                <a:solidFill>
                  <a:schemeClr val="bg1"/>
                </a:solidFill>
              </a:rPr>
            </a:br>
            <a:r>
              <a:rPr lang="en-US" dirty="0">
                <a:solidFill>
                  <a:schemeClr val="bg1"/>
                </a:solidFill>
              </a:rPr>
              <a:t>• Power BI is used to create interactive dashboards and generate actionable business insights. </a:t>
            </a:r>
            <a:br>
              <a:rPr lang="en-US" dirty="0">
                <a:solidFill>
                  <a:schemeClr val="bg1"/>
                </a:solidFill>
              </a:rPr>
            </a:br>
            <a:br>
              <a:rPr lang="en-US" dirty="0">
                <a:solidFill>
                  <a:schemeClr val="bg1"/>
                </a:solidFill>
              </a:rPr>
            </a:br>
            <a:r>
              <a:rPr lang="en-US" dirty="0">
                <a:solidFill>
                  <a:schemeClr val="bg1"/>
                </a:solidFill>
              </a:rPr>
              <a:t>• The goal is to support customer retention, improve engagement, and enable data-driven decision-making.</a:t>
            </a:r>
          </a:p>
        </p:txBody>
      </p:sp>
      <p:sp>
        <p:nvSpPr>
          <p:cNvPr id="5" name="TextBox 4">
            <a:extLst>
              <a:ext uri="{FF2B5EF4-FFF2-40B4-BE49-F238E27FC236}">
                <a16:creationId xmlns:a16="http://schemas.microsoft.com/office/drawing/2014/main" id="{478B7486-E14C-8874-7D38-5B268BEBF45C}"/>
              </a:ext>
            </a:extLst>
          </p:cNvPr>
          <p:cNvSpPr txBox="1"/>
          <p:nvPr/>
        </p:nvSpPr>
        <p:spPr>
          <a:xfrm>
            <a:off x="688158" y="381343"/>
            <a:ext cx="10708848" cy="707886"/>
          </a:xfrm>
          <a:prstGeom prst="rect">
            <a:avLst/>
          </a:prstGeom>
          <a:noFill/>
        </p:spPr>
        <p:txBody>
          <a:bodyPr wrap="square">
            <a:spAutoFit/>
          </a:bodyPr>
          <a:lstStyle/>
          <a:p>
            <a:pPr algn="ctr">
              <a:buNone/>
            </a:pPr>
            <a:r>
              <a:rPr lang="en-US" sz="4000" b="1" u="sng" dirty="0">
                <a:solidFill>
                  <a:schemeClr val="bg1"/>
                </a:solidFill>
                <a:effectLst>
                  <a:outerShdw blurRad="38100" dist="38100" dir="2700000" algn="tl">
                    <a:srgbClr val="000000">
                      <a:alpha val="43137"/>
                    </a:srgbClr>
                  </a:outerShdw>
                </a:effectLst>
              </a:rPr>
              <a:t>Problem Statement</a:t>
            </a:r>
          </a:p>
        </p:txBody>
      </p:sp>
      <p:pic>
        <p:nvPicPr>
          <p:cNvPr id="7" name="Picture 6">
            <a:extLst>
              <a:ext uri="{FF2B5EF4-FFF2-40B4-BE49-F238E27FC236}">
                <a16:creationId xmlns:a16="http://schemas.microsoft.com/office/drawing/2014/main" id="{EB3CB9C0-DBAF-711F-06F7-3E8F3DD28CC5}"/>
              </a:ext>
            </a:extLst>
          </p:cNvPr>
          <p:cNvPicPr>
            <a:picLocks noChangeAspect="1"/>
          </p:cNvPicPr>
          <p:nvPr/>
        </p:nvPicPr>
        <p:blipFill>
          <a:blip r:embed="rId2"/>
          <a:stretch>
            <a:fillRect/>
          </a:stretch>
        </p:blipFill>
        <p:spPr>
          <a:xfrm>
            <a:off x="688157" y="1819373"/>
            <a:ext cx="4977352" cy="3874417"/>
          </a:xfrm>
          <a:prstGeom prst="rect">
            <a:avLst/>
          </a:prstGeom>
        </p:spPr>
      </p:pic>
    </p:spTree>
    <p:extLst>
      <p:ext uri="{BB962C8B-B14F-4D97-AF65-F5344CB8AC3E}">
        <p14:creationId xmlns:p14="http://schemas.microsoft.com/office/powerpoint/2010/main" val="41147375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80BAC2-0FD0-6900-53A7-E897ED318B4C}"/>
              </a:ext>
            </a:extLst>
          </p:cNvPr>
          <p:cNvPicPr>
            <a:picLocks noChangeAspect="1"/>
          </p:cNvPicPr>
          <p:nvPr/>
        </p:nvPicPr>
        <p:blipFill>
          <a:blip r:embed="rId2"/>
          <a:stretch>
            <a:fillRect/>
          </a:stretch>
        </p:blipFill>
        <p:spPr>
          <a:xfrm>
            <a:off x="857840" y="1668544"/>
            <a:ext cx="10652288" cy="4316760"/>
          </a:xfrm>
          <a:prstGeom prst="rect">
            <a:avLst/>
          </a:prstGeom>
        </p:spPr>
      </p:pic>
      <p:sp>
        <p:nvSpPr>
          <p:cNvPr id="5" name="TextBox 4">
            <a:extLst>
              <a:ext uri="{FF2B5EF4-FFF2-40B4-BE49-F238E27FC236}">
                <a16:creationId xmlns:a16="http://schemas.microsoft.com/office/drawing/2014/main" id="{83CA7DED-702C-D4D4-5D63-613BB9F63F11}"/>
              </a:ext>
            </a:extLst>
          </p:cNvPr>
          <p:cNvSpPr txBox="1"/>
          <p:nvPr/>
        </p:nvSpPr>
        <p:spPr>
          <a:xfrm>
            <a:off x="414780" y="409222"/>
            <a:ext cx="11199043" cy="707886"/>
          </a:xfrm>
          <a:prstGeom prst="rect">
            <a:avLst/>
          </a:prstGeom>
          <a:noFill/>
        </p:spPr>
        <p:txBody>
          <a:bodyPr wrap="square">
            <a:spAutoFit/>
          </a:bodyPr>
          <a:lstStyle/>
          <a:p>
            <a:pPr algn="ctr"/>
            <a:r>
              <a:rPr lang="en-US" sz="4000" b="1" u="sng" dirty="0">
                <a:solidFill>
                  <a:schemeClr val="bg1"/>
                </a:solidFill>
                <a:effectLst>
                  <a:outerShdw blurRad="38100" dist="38100" dir="2700000" algn="tl">
                    <a:srgbClr val="000000">
                      <a:alpha val="43137"/>
                    </a:srgbClr>
                  </a:outerShdw>
                </a:effectLst>
              </a:rPr>
              <a:t>Database Schema</a:t>
            </a:r>
          </a:p>
        </p:txBody>
      </p:sp>
    </p:spTree>
    <p:extLst>
      <p:ext uri="{BB962C8B-B14F-4D97-AF65-F5344CB8AC3E}">
        <p14:creationId xmlns:p14="http://schemas.microsoft.com/office/powerpoint/2010/main" val="1719656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396A66F-35C9-4C0C-F74A-D6BA3EC0F1C1}"/>
              </a:ext>
            </a:extLst>
          </p:cNvPr>
          <p:cNvSpPr txBox="1"/>
          <p:nvPr/>
        </p:nvSpPr>
        <p:spPr>
          <a:xfrm>
            <a:off x="435204" y="1194912"/>
            <a:ext cx="10132243" cy="5078313"/>
          </a:xfrm>
          <a:prstGeom prst="rect">
            <a:avLst/>
          </a:prstGeom>
          <a:noFill/>
        </p:spPr>
        <p:txBody>
          <a:bodyPr wrap="square">
            <a:spAutoFit/>
          </a:bodyPr>
          <a:lstStyle/>
          <a:p>
            <a:r>
              <a:rPr lang="en-US" b="1" u="sng" dirty="0" err="1">
                <a:solidFill>
                  <a:schemeClr val="bg1"/>
                </a:solidFill>
              </a:rPr>
              <a:t>CustomerId</a:t>
            </a:r>
            <a:r>
              <a:rPr lang="en-US" b="1" dirty="0">
                <a:solidFill>
                  <a:schemeClr val="bg1"/>
                </a:solidFill>
              </a:rPr>
              <a:t> : </a:t>
            </a:r>
            <a:r>
              <a:rPr lang="en-US" dirty="0">
                <a:solidFill>
                  <a:schemeClr val="bg1"/>
                </a:solidFill>
              </a:rPr>
              <a:t>Unique identifier assigned to each customer.</a:t>
            </a:r>
            <a:br>
              <a:rPr lang="en-US" dirty="0">
                <a:solidFill>
                  <a:schemeClr val="bg1"/>
                </a:solidFill>
              </a:rPr>
            </a:br>
            <a:br>
              <a:rPr lang="en-US" dirty="0">
                <a:solidFill>
                  <a:schemeClr val="bg1"/>
                </a:solidFill>
              </a:rPr>
            </a:br>
            <a:r>
              <a:rPr lang="en-US" b="1" u="sng" dirty="0" err="1">
                <a:solidFill>
                  <a:schemeClr val="bg1"/>
                </a:solidFill>
              </a:rPr>
              <a:t>CreditScore</a:t>
            </a:r>
            <a:r>
              <a:rPr lang="en-US" b="1" dirty="0">
                <a:solidFill>
                  <a:schemeClr val="bg1"/>
                </a:solidFill>
              </a:rPr>
              <a:t> : </a:t>
            </a:r>
            <a:r>
              <a:rPr lang="en-US" dirty="0">
                <a:solidFill>
                  <a:schemeClr val="bg1"/>
                </a:solidFill>
              </a:rPr>
              <a:t>Measures customer creditworthiness and financial reliability. </a:t>
            </a:r>
            <a:br>
              <a:rPr lang="en-US" dirty="0">
                <a:solidFill>
                  <a:schemeClr val="bg1"/>
                </a:solidFill>
              </a:rPr>
            </a:br>
            <a:r>
              <a:rPr lang="en-US" dirty="0">
                <a:solidFill>
                  <a:schemeClr val="bg1"/>
                </a:solidFill>
              </a:rPr>
              <a:t> </a:t>
            </a:r>
            <a:br>
              <a:rPr lang="en-US" dirty="0">
                <a:solidFill>
                  <a:schemeClr val="bg1"/>
                </a:solidFill>
              </a:rPr>
            </a:br>
            <a:r>
              <a:rPr lang="en-US" b="1" u="sng" dirty="0" err="1">
                <a:solidFill>
                  <a:schemeClr val="bg1"/>
                </a:solidFill>
              </a:rPr>
              <a:t>GeographyID</a:t>
            </a:r>
            <a:r>
              <a:rPr lang="en-US" b="1" dirty="0">
                <a:solidFill>
                  <a:schemeClr val="bg1"/>
                </a:solidFill>
              </a:rPr>
              <a:t> : </a:t>
            </a:r>
            <a:r>
              <a:rPr lang="en-US" dirty="0">
                <a:solidFill>
                  <a:schemeClr val="bg1"/>
                </a:solidFill>
              </a:rPr>
              <a:t>Represents the customer's geographic location or region.</a:t>
            </a:r>
            <a:br>
              <a:rPr lang="en-US" dirty="0">
                <a:solidFill>
                  <a:schemeClr val="bg1"/>
                </a:solidFill>
              </a:rPr>
            </a:br>
            <a:r>
              <a:rPr lang="en-US" dirty="0">
                <a:solidFill>
                  <a:schemeClr val="bg1"/>
                </a:solidFill>
              </a:rPr>
              <a:t>  </a:t>
            </a:r>
            <a:br>
              <a:rPr lang="en-US" dirty="0">
                <a:solidFill>
                  <a:schemeClr val="bg1"/>
                </a:solidFill>
              </a:rPr>
            </a:br>
            <a:r>
              <a:rPr lang="en-US" b="1" u="sng" dirty="0" err="1">
                <a:solidFill>
                  <a:schemeClr val="bg1"/>
                </a:solidFill>
              </a:rPr>
              <a:t>GenderID</a:t>
            </a:r>
            <a:r>
              <a:rPr lang="en-US" b="1" dirty="0">
                <a:solidFill>
                  <a:schemeClr val="bg1"/>
                </a:solidFill>
              </a:rPr>
              <a:t>  :</a:t>
            </a:r>
            <a:r>
              <a:rPr lang="en-US" dirty="0">
                <a:solidFill>
                  <a:schemeClr val="bg1"/>
                </a:solidFill>
              </a:rPr>
              <a:t> Encoded variable indicating customer gender.  </a:t>
            </a:r>
            <a:br>
              <a:rPr lang="en-US" dirty="0">
                <a:solidFill>
                  <a:schemeClr val="bg1"/>
                </a:solidFill>
              </a:rPr>
            </a:br>
            <a:br>
              <a:rPr lang="en-US" dirty="0">
                <a:solidFill>
                  <a:schemeClr val="bg1"/>
                </a:solidFill>
              </a:rPr>
            </a:br>
            <a:r>
              <a:rPr lang="en-US" b="1" u="sng" dirty="0">
                <a:solidFill>
                  <a:schemeClr val="bg1"/>
                </a:solidFill>
              </a:rPr>
              <a:t>Age</a:t>
            </a:r>
            <a:r>
              <a:rPr lang="en-US" b="1" dirty="0">
                <a:solidFill>
                  <a:schemeClr val="bg1"/>
                </a:solidFill>
              </a:rPr>
              <a:t> : </a:t>
            </a:r>
            <a:r>
              <a:rPr lang="en-US" dirty="0">
                <a:solidFill>
                  <a:schemeClr val="bg1"/>
                </a:solidFill>
              </a:rPr>
              <a:t>Age of the customer in years.  </a:t>
            </a:r>
            <a:br>
              <a:rPr lang="en-US" dirty="0">
                <a:solidFill>
                  <a:schemeClr val="bg1"/>
                </a:solidFill>
              </a:rPr>
            </a:br>
            <a:br>
              <a:rPr lang="en-US" dirty="0">
                <a:solidFill>
                  <a:schemeClr val="bg1"/>
                </a:solidFill>
              </a:rPr>
            </a:br>
            <a:r>
              <a:rPr lang="en-US" b="1" u="sng" dirty="0">
                <a:solidFill>
                  <a:schemeClr val="bg1"/>
                </a:solidFill>
              </a:rPr>
              <a:t>Tenure</a:t>
            </a:r>
            <a:r>
              <a:rPr lang="en-US" b="1" dirty="0">
                <a:solidFill>
                  <a:schemeClr val="bg1"/>
                </a:solidFill>
              </a:rPr>
              <a:t> :</a:t>
            </a:r>
            <a:r>
              <a:rPr lang="en-US" dirty="0">
                <a:solidFill>
                  <a:schemeClr val="bg1"/>
                </a:solidFill>
              </a:rPr>
              <a:t> Number of years the customer has been associated with the bank.  </a:t>
            </a:r>
            <a:br>
              <a:rPr lang="en-US" dirty="0">
                <a:solidFill>
                  <a:schemeClr val="bg1"/>
                </a:solidFill>
              </a:rPr>
            </a:br>
            <a:br>
              <a:rPr lang="en-US" dirty="0">
                <a:solidFill>
                  <a:schemeClr val="bg1"/>
                </a:solidFill>
              </a:rPr>
            </a:br>
            <a:r>
              <a:rPr lang="en-US" b="1" u="sng" dirty="0">
                <a:solidFill>
                  <a:schemeClr val="bg1"/>
                </a:solidFill>
              </a:rPr>
              <a:t>Balance</a:t>
            </a:r>
            <a:r>
              <a:rPr lang="en-US" b="1" dirty="0">
                <a:solidFill>
                  <a:schemeClr val="bg1"/>
                </a:solidFill>
              </a:rPr>
              <a:t> :</a:t>
            </a:r>
            <a:r>
              <a:rPr lang="en-US" dirty="0">
                <a:solidFill>
                  <a:schemeClr val="bg1"/>
                </a:solidFill>
              </a:rPr>
              <a:t> Current account balance maintained by the customer.  </a:t>
            </a:r>
            <a:br>
              <a:rPr lang="en-US" dirty="0">
                <a:solidFill>
                  <a:schemeClr val="bg1"/>
                </a:solidFill>
              </a:rPr>
            </a:br>
            <a:br>
              <a:rPr lang="en-US" dirty="0">
                <a:solidFill>
                  <a:schemeClr val="bg1"/>
                </a:solidFill>
              </a:rPr>
            </a:br>
            <a:r>
              <a:rPr lang="en-US" b="1" u="sng" dirty="0" err="1">
                <a:solidFill>
                  <a:schemeClr val="bg1"/>
                </a:solidFill>
              </a:rPr>
              <a:t>NumOfProducts</a:t>
            </a:r>
            <a:r>
              <a:rPr lang="en-US" dirty="0">
                <a:solidFill>
                  <a:schemeClr val="bg1"/>
                </a:solidFill>
              </a:rPr>
              <a:t> : Total number of banking products or services used by the customer.  </a:t>
            </a:r>
            <a:br>
              <a:rPr lang="en-US" dirty="0">
                <a:solidFill>
                  <a:schemeClr val="bg1"/>
                </a:solidFill>
              </a:rPr>
            </a:br>
            <a:br>
              <a:rPr lang="en-US" dirty="0">
                <a:solidFill>
                  <a:schemeClr val="bg1"/>
                </a:solidFill>
              </a:rPr>
            </a:br>
            <a:r>
              <a:rPr lang="en-US" b="1" u="sng" dirty="0">
                <a:solidFill>
                  <a:schemeClr val="bg1"/>
                </a:solidFill>
              </a:rPr>
              <a:t>Credit Score Categories</a:t>
            </a:r>
            <a:r>
              <a:rPr lang="en-US" dirty="0">
                <a:solidFill>
                  <a:schemeClr val="bg1"/>
                </a:solidFill>
              </a:rPr>
              <a:t> : </a:t>
            </a:r>
            <a:br>
              <a:rPr lang="en-US" dirty="0">
                <a:solidFill>
                  <a:schemeClr val="bg1"/>
                </a:solidFill>
              </a:rPr>
            </a:br>
            <a:r>
              <a:rPr lang="en-US" dirty="0">
                <a:solidFill>
                  <a:schemeClr val="bg1"/>
                </a:solidFill>
              </a:rPr>
              <a:t>        Excellent: 800–850, Very Good: 740–799, Good: 670–739, Fair: 580–669, Poor: 300–579</a:t>
            </a:r>
          </a:p>
        </p:txBody>
      </p:sp>
      <p:sp>
        <p:nvSpPr>
          <p:cNvPr id="5" name="TextBox 4">
            <a:extLst>
              <a:ext uri="{FF2B5EF4-FFF2-40B4-BE49-F238E27FC236}">
                <a16:creationId xmlns:a16="http://schemas.microsoft.com/office/drawing/2014/main" id="{BD7672A5-57F6-1A33-E14C-AC51AF3682CD}"/>
              </a:ext>
            </a:extLst>
          </p:cNvPr>
          <p:cNvSpPr txBox="1"/>
          <p:nvPr/>
        </p:nvSpPr>
        <p:spPr>
          <a:xfrm>
            <a:off x="537329" y="14107"/>
            <a:ext cx="10661716" cy="707886"/>
          </a:xfrm>
          <a:prstGeom prst="rect">
            <a:avLst/>
          </a:prstGeom>
          <a:noFill/>
        </p:spPr>
        <p:txBody>
          <a:bodyPr wrap="square">
            <a:spAutoFit/>
          </a:bodyPr>
          <a:lstStyle/>
          <a:p>
            <a:pPr algn="ctr"/>
            <a:r>
              <a:rPr lang="en-US" sz="4000" b="1" u="sng" dirty="0">
                <a:solidFill>
                  <a:schemeClr val="bg1"/>
                </a:solidFill>
                <a:effectLst>
                  <a:outerShdw blurRad="38100" dist="38100" dir="2700000" algn="tl">
                    <a:srgbClr val="000000">
                      <a:alpha val="43137"/>
                    </a:srgbClr>
                  </a:outerShdw>
                </a:effectLst>
              </a:rPr>
              <a:t>Dataset Features </a:t>
            </a:r>
          </a:p>
        </p:txBody>
      </p:sp>
      <p:pic>
        <p:nvPicPr>
          <p:cNvPr id="8" name="Picture 7">
            <a:extLst>
              <a:ext uri="{FF2B5EF4-FFF2-40B4-BE49-F238E27FC236}">
                <a16:creationId xmlns:a16="http://schemas.microsoft.com/office/drawing/2014/main" id="{2E1E524D-DF13-B420-4F15-C86466ABD3A2}"/>
              </a:ext>
            </a:extLst>
          </p:cNvPr>
          <p:cNvPicPr>
            <a:picLocks noChangeAspect="1"/>
          </p:cNvPicPr>
          <p:nvPr/>
        </p:nvPicPr>
        <p:blipFill>
          <a:blip r:embed="rId2"/>
          <a:stretch>
            <a:fillRect/>
          </a:stretch>
        </p:blipFill>
        <p:spPr>
          <a:xfrm>
            <a:off x="9202132" y="1194912"/>
            <a:ext cx="2554664" cy="3725880"/>
          </a:xfrm>
          <a:prstGeom prst="rect">
            <a:avLst/>
          </a:prstGeom>
        </p:spPr>
      </p:pic>
    </p:spTree>
    <p:extLst>
      <p:ext uri="{BB962C8B-B14F-4D97-AF65-F5344CB8AC3E}">
        <p14:creationId xmlns:p14="http://schemas.microsoft.com/office/powerpoint/2010/main" val="15004461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8D0D9CB-25CA-33FE-C2EA-B2271379E1F9}"/>
              </a:ext>
            </a:extLst>
          </p:cNvPr>
          <p:cNvSpPr txBox="1"/>
          <p:nvPr/>
        </p:nvSpPr>
        <p:spPr>
          <a:xfrm>
            <a:off x="791851" y="1183094"/>
            <a:ext cx="7381188" cy="5078313"/>
          </a:xfrm>
          <a:prstGeom prst="rect">
            <a:avLst/>
          </a:prstGeom>
          <a:noFill/>
        </p:spPr>
        <p:txBody>
          <a:bodyPr wrap="square">
            <a:spAutoFit/>
          </a:bodyPr>
          <a:lstStyle/>
          <a:p>
            <a:r>
              <a:rPr lang="en-US" dirty="0">
                <a:solidFill>
                  <a:schemeClr val="bg1"/>
                </a:solidFill>
              </a:rPr>
              <a:t>• Analyze customer demographics, financial behavior, and account activity to identify key factors influencing customer churn and retention.  </a:t>
            </a:r>
            <a:br>
              <a:rPr lang="en-US" dirty="0">
                <a:solidFill>
                  <a:schemeClr val="bg1"/>
                </a:solidFill>
              </a:rPr>
            </a:br>
            <a:br>
              <a:rPr lang="en-US" dirty="0">
                <a:solidFill>
                  <a:schemeClr val="bg1"/>
                </a:solidFill>
              </a:rPr>
            </a:br>
            <a:r>
              <a:rPr lang="en-US" dirty="0">
                <a:solidFill>
                  <a:schemeClr val="bg1"/>
                </a:solidFill>
              </a:rPr>
              <a:t>• Develop an interactive Power BI CRM dashboard to transform raw data into meaningful visual insights and support data-driven decision-making.</a:t>
            </a:r>
            <a:br>
              <a:rPr lang="en-US" dirty="0">
                <a:solidFill>
                  <a:schemeClr val="bg1"/>
                </a:solidFill>
              </a:rPr>
            </a:br>
            <a:r>
              <a:rPr lang="en-US" dirty="0">
                <a:solidFill>
                  <a:schemeClr val="bg1"/>
                </a:solidFill>
              </a:rPr>
              <a:t>  </a:t>
            </a:r>
            <a:br>
              <a:rPr lang="en-US" dirty="0">
                <a:solidFill>
                  <a:schemeClr val="bg1"/>
                </a:solidFill>
              </a:rPr>
            </a:br>
            <a:r>
              <a:rPr lang="en-US" dirty="0">
                <a:solidFill>
                  <a:schemeClr val="bg1"/>
                </a:solidFill>
              </a:rPr>
              <a:t>• Identify customer segments based on demographic, credit, and behavioral characteristics to enable targeted marketing and personalized services.  </a:t>
            </a:r>
            <a:br>
              <a:rPr lang="en-US" dirty="0">
                <a:solidFill>
                  <a:schemeClr val="bg1"/>
                </a:solidFill>
              </a:rPr>
            </a:br>
            <a:br>
              <a:rPr lang="en-US" dirty="0">
                <a:solidFill>
                  <a:schemeClr val="bg1"/>
                </a:solidFill>
              </a:rPr>
            </a:br>
            <a:r>
              <a:rPr lang="en-US" dirty="0">
                <a:solidFill>
                  <a:schemeClr val="bg1"/>
                </a:solidFill>
              </a:rPr>
              <a:t>• Provide actionable insights to improve customer engagement, satisfaction, and long-term loyalty.  </a:t>
            </a:r>
            <a:br>
              <a:rPr lang="en-US" dirty="0">
                <a:solidFill>
                  <a:schemeClr val="bg1"/>
                </a:solidFill>
              </a:rPr>
            </a:br>
            <a:br>
              <a:rPr lang="en-US" dirty="0">
                <a:solidFill>
                  <a:schemeClr val="bg1"/>
                </a:solidFill>
              </a:rPr>
            </a:br>
            <a:r>
              <a:rPr lang="en-US" dirty="0">
                <a:solidFill>
                  <a:schemeClr val="bg1"/>
                </a:solidFill>
              </a:rPr>
              <a:t>• Support business stakeholders in optimizing retention strategies, risk management, and overall customer relationship management performance.</a:t>
            </a:r>
          </a:p>
        </p:txBody>
      </p:sp>
      <p:sp>
        <p:nvSpPr>
          <p:cNvPr id="5" name="TextBox 4">
            <a:extLst>
              <a:ext uri="{FF2B5EF4-FFF2-40B4-BE49-F238E27FC236}">
                <a16:creationId xmlns:a16="http://schemas.microsoft.com/office/drawing/2014/main" id="{F71E9CE4-F565-FB6B-8F42-DA92B77F58D0}"/>
              </a:ext>
            </a:extLst>
          </p:cNvPr>
          <p:cNvSpPr txBox="1"/>
          <p:nvPr/>
        </p:nvSpPr>
        <p:spPr>
          <a:xfrm>
            <a:off x="642593" y="173551"/>
            <a:ext cx="10906813" cy="707886"/>
          </a:xfrm>
          <a:prstGeom prst="rect">
            <a:avLst/>
          </a:prstGeom>
          <a:noFill/>
        </p:spPr>
        <p:txBody>
          <a:bodyPr wrap="square">
            <a:spAutoFit/>
          </a:bodyPr>
          <a:lstStyle/>
          <a:p>
            <a:pPr algn="ctr"/>
            <a:r>
              <a:rPr lang="en-US" sz="4000" b="1" u="sng" dirty="0">
                <a:solidFill>
                  <a:schemeClr val="bg1"/>
                </a:solidFill>
                <a:effectLst>
                  <a:outerShdw blurRad="38100" dist="38100" dir="2700000" algn="tl">
                    <a:srgbClr val="000000">
                      <a:alpha val="43137"/>
                    </a:srgbClr>
                  </a:outerShdw>
                </a:effectLst>
              </a:rPr>
              <a:t>Project Objectives </a:t>
            </a:r>
          </a:p>
        </p:txBody>
      </p:sp>
      <p:pic>
        <p:nvPicPr>
          <p:cNvPr id="7" name="Picture 6">
            <a:extLst>
              <a:ext uri="{FF2B5EF4-FFF2-40B4-BE49-F238E27FC236}">
                <a16:creationId xmlns:a16="http://schemas.microsoft.com/office/drawing/2014/main" id="{95A43E08-F8D4-58E2-5647-E937FFA3612C}"/>
              </a:ext>
            </a:extLst>
          </p:cNvPr>
          <p:cNvPicPr>
            <a:picLocks noChangeAspect="1"/>
          </p:cNvPicPr>
          <p:nvPr/>
        </p:nvPicPr>
        <p:blipFill>
          <a:blip r:embed="rId2"/>
          <a:stretch>
            <a:fillRect/>
          </a:stretch>
        </p:blipFill>
        <p:spPr>
          <a:xfrm>
            <a:off x="8587819" y="2121031"/>
            <a:ext cx="2961587" cy="2799761"/>
          </a:xfrm>
          <a:prstGeom prst="rect">
            <a:avLst/>
          </a:prstGeom>
        </p:spPr>
      </p:pic>
    </p:spTree>
    <p:extLst>
      <p:ext uri="{BB962C8B-B14F-4D97-AF65-F5344CB8AC3E}">
        <p14:creationId xmlns:p14="http://schemas.microsoft.com/office/powerpoint/2010/main" val="2175447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6B83A8D-5E97-7E44-CA60-EA91F19D235A}"/>
              </a:ext>
            </a:extLst>
          </p:cNvPr>
          <p:cNvSpPr txBox="1"/>
          <p:nvPr/>
        </p:nvSpPr>
        <p:spPr>
          <a:xfrm>
            <a:off x="1743959" y="1400687"/>
            <a:ext cx="8644379" cy="4801314"/>
          </a:xfrm>
          <a:prstGeom prst="rect">
            <a:avLst/>
          </a:prstGeom>
          <a:noFill/>
        </p:spPr>
        <p:txBody>
          <a:bodyPr wrap="square">
            <a:spAutoFit/>
          </a:bodyPr>
          <a:lstStyle/>
          <a:p>
            <a:r>
              <a:rPr lang="en-US" dirty="0">
                <a:solidFill>
                  <a:schemeClr val="bg1"/>
                </a:solidFill>
              </a:rPr>
              <a:t>• </a:t>
            </a:r>
            <a:r>
              <a:rPr lang="en-US" b="1" u="sng" dirty="0">
                <a:solidFill>
                  <a:schemeClr val="bg1"/>
                </a:solidFill>
              </a:rPr>
              <a:t>Problem Understanding &amp; Exploration</a:t>
            </a:r>
            <a:r>
              <a:rPr lang="en-US" b="1" dirty="0">
                <a:solidFill>
                  <a:schemeClr val="bg1"/>
                </a:solidFill>
              </a:rPr>
              <a:t>: </a:t>
            </a:r>
            <a:r>
              <a:rPr lang="en-US" dirty="0">
                <a:solidFill>
                  <a:schemeClr val="bg1"/>
                </a:solidFill>
              </a:rPr>
              <a:t>Reviewed the dataset to understand customer attributes and churn factors. </a:t>
            </a:r>
            <a:br>
              <a:rPr lang="en-US" dirty="0">
                <a:solidFill>
                  <a:schemeClr val="bg1"/>
                </a:solidFill>
              </a:rPr>
            </a:br>
            <a:br>
              <a:rPr lang="en-US" dirty="0">
                <a:solidFill>
                  <a:schemeClr val="bg1"/>
                </a:solidFill>
              </a:rPr>
            </a:br>
            <a:r>
              <a:rPr lang="en-US" dirty="0">
                <a:solidFill>
                  <a:schemeClr val="bg1"/>
                </a:solidFill>
              </a:rPr>
              <a:t>• </a:t>
            </a:r>
            <a:r>
              <a:rPr lang="en-US" b="1" u="sng" dirty="0">
                <a:solidFill>
                  <a:schemeClr val="bg1"/>
                </a:solidFill>
              </a:rPr>
              <a:t>Data Cleaning &amp; Preparation</a:t>
            </a:r>
            <a:r>
              <a:rPr lang="en-US" b="1" dirty="0">
                <a:solidFill>
                  <a:schemeClr val="bg1"/>
                </a:solidFill>
              </a:rPr>
              <a:t>:</a:t>
            </a:r>
            <a:r>
              <a:rPr lang="en-US" dirty="0">
                <a:solidFill>
                  <a:schemeClr val="bg1"/>
                </a:solidFill>
              </a:rPr>
              <a:t> Resolved data quality issues and prepared data for analysis. </a:t>
            </a:r>
            <a:br>
              <a:rPr lang="en-US" dirty="0">
                <a:solidFill>
                  <a:schemeClr val="bg1"/>
                </a:solidFill>
              </a:rPr>
            </a:br>
            <a:br>
              <a:rPr lang="en-US" dirty="0">
                <a:solidFill>
                  <a:schemeClr val="bg1"/>
                </a:solidFill>
              </a:rPr>
            </a:br>
            <a:r>
              <a:rPr lang="en-US" dirty="0">
                <a:solidFill>
                  <a:schemeClr val="bg1"/>
                </a:solidFill>
              </a:rPr>
              <a:t>• </a:t>
            </a:r>
            <a:r>
              <a:rPr lang="en-US" b="1" u="sng" dirty="0">
                <a:solidFill>
                  <a:schemeClr val="bg1"/>
                </a:solidFill>
              </a:rPr>
              <a:t>SQL Analysis</a:t>
            </a:r>
            <a:r>
              <a:rPr lang="en-US" dirty="0">
                <a:solidFill>
                  <a:schemeClr val="bg1"/>
                </a:solidFill>
              </a:rPr>
              <a:t>: Used SQL queries, joins, aggregations, and window functions to perform exploratory analysis. </a:t>
            </a:r>
            <a:br>
              <a:rPr lang="en-US" dirty="0">
                <a:solidFill>
                  <a:schemeClr val="bg1"/>
                </a:solidFill>
              </a:rPr>
            </a:br>
            <a:br>
              <a:rPr lang="en-US" dirty="0">
                <a:solidFill>
                  <a:schemeClr val="bg1"/>
                </a:solidFill>
              </a:rPr>
            </a:br>
            <a:r>
              <a:rPr lang="en-US" dirty="0">
                <a:solidFill>
                  <a:schemeClr val="bg1"/>
                </a:solidFill>
              </a:rPr>
              <a:t>• </a:t>
            </a:r>
            <a:r>
              <a:rPr lang="en-US" b="1" u="sng" dirty="0">
                <a:solidFill>
                  <a:schemeClr val="bg1"/>
                </a:solidFill>
              </a:rPr>
              <a:t>Power BI Modeling</a:t>
            </a:r>
            <a:r>
              <a:rPr lang="en-US" dirty="0">
                <a:solidFill>
                  <a:schemeClr val="bg1"/>
                </a:solidFill>
              </a:rPr>
              <a:t>: Created table relationships, DAX measures, and calculated columns for KPI analysis. </a:t>
            </a:r>
            <a:br>
              <a:rPr lang="en-US" dirty="0">
                <a:solidFill>
                  <a:schemeClr val="bg1"/>
                </a:solidFill>
              </a:rPr>
            </a:br>
            <a:br>
              <a:rPr lang="en-US" dirty="0">
                <a:solidFill>
                  <a:schemeClr val="bg1"/>
                </a:solidFill>
              </a:rPr>
            </a:br>
            <a:r>
              <a:rPr lang="en-US" dirty="0">
                <a:solidFill>
                  <a:schemeClr val="bg1"/>
                </a:solidFill>
              </a:rPr>
              <a:t>• </a:t>
            </a:r>
            <a:r>
              <a:rPr lang="en-US" b="1" u="sng" dirty="0">
                <a:solidFill>
                  <a:schemeClr val="bg1"/>
                </a:solidFill>
              </a:rPr>
              <a:t>Dashboard Development</a:t>
            </a:r>
            <a:r>
              <a:rPr lang="en-US" dirty="0">
                <a:solidFill>
                  <a:schemeClr val="bg1"/>
                </a:solidFill>
              </a:rPr>
              <a:t>: Built interactive dashboards using charts, KPIs, slicers, and filters. </a:t>
            </a:r>
            <a:br>
              <a:rPr lang="en-US" dirty="0">
                <a:solidFill>
                  <a:schemeClr val="bg1"/>
                </a:solidFill>
              </a:rPr>
            </a:br>
            <a:br>
              <a:rPr lang="en-US" dirty="0">
                <a:solidFill>
                  <a:schemeClr val="bg1"/>
                </a:solidFill>
              </a:rPr>
            </a:br>
            <a:r>
              <a:rPr lang="en-US" dirty="0">
                <a:solidFill>
                  <a:schemeClr val="bg1"/>
                </a:solidFill>
              </a:rPr>
              <a:t>• </a:t>
            </a:r>
            <a:r>
              <a:rPr lang="en-US" b="1" u="sng" dirty="0">
                <a:solidFill>
                  <a:schemeClr val="bg1"/>
                </a:solidFill>
              </a:rPr>
              <a:t>Insight Generation</a:t>
            </a:r>
            <a:r>
              <a:rPr lang="en-US" dirty="0">
                <a:solidFill>
                  <a:schemeClr val="bg1"/>
                </a:solidFill>
              </a:rPr>
              <a:t>: Identified churn drivers and customer behavior trends to support business decisions.</a:t>
            </a:r>
          </a:p>
        </p:txBody>
      </p:sp>
      <p:sp>
        <p:nvSpPr>
          <p:cNvPr id="5" name="TextBox 4">
            <a:extLst>
              <a:ext uri="{FF2B5EF4-FFF2-40B4-BE49-F238E27FC236}">
                <a16:creationId xmlns:a16="http://schemas.microsoft.com/office/drawing/2014/main" id="{1F6D25E4-708F-1325-6568-06FDBA25CC52}"/>
              </a:ext>
            </a:extLst>
          </p:cNvPr>
          <p:cNvSpPr txBox="1"/>
          <p:nvPr/>
        </p:nvSpPr>
        <p:spPr>
          <a:xfrm>
            <a:off x="590746" y="183220"/>
            <a:ext cx="10745848" cy="707886"/>
          </a:xfrm>
          <a:prstGeom prst="rect">
            <a:avLst/>
          </a:prstGeom>
          <a:noFill/>
        </p:spPr>
        <p:txBody>
          <a:bodyPr wrap="square">
            <a:spAutoFit/>
          </a:bodyPr>
          <a:lstStyle/>
          <a:p>
            <a:pPr algn="ctr">
              <a:buNone/>
            </a:pPr>
            <a:r>
              <a:rPr lang="en-US" sz="4000" b="1" u="sng" dirty="0">
                <a:solidFill>
                  <a:schemeClr val="bg1"/>
                </a:solidFill>
                <a:effectLst>
                  <a:outerShdw blurRad="38100" dist="38100" dir="2700000" algn="tl">
                    <a:srgbClr val="000000">
                      <a:alpha val="43137"/>
                    </a:srgbClr>
                  </a:outerShdw>
                </a:effectLst>
              </a:rPr>
              <a:t>Methodology</a:t>
            </a:r>
          </a:p>
        </p:txBody>
      </p:sp>
    </p:spTree>
    <p:extLst>
      <p:ext uri="{BB962C8B-B14F-4D97-AF65-F5344CB8AC3E}">
        <p14:creationId xmlns:p14="http://schemas.microsoft.com/office/powerpoint/2010/main" val="12032052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9DE74C-E8F7-610A-52BF-22E95588AF01}"/>
              </a:ext>
            </a:extLst>
          </p:cNvPr>
          <p:cNvSpPr txBox="1"/>
          <p:nvPr/>
        </p:nvSpPr>
        <p:spPr>
          <a:xfrm>
            <a:off x="845270" y="3296409"/>
            <a:ext cx="10501459" cy="3416320"/>
          </a:xfrm>
          <a:prstGeom prst="rect">
            <a:avLst/>
          </a:prstGeom>
          <a:noFill/>
        </p:spPr>
        <p:txBody>
          <a:bodyPr wrap="square">
            <a:spAutoFit/>
          </a:bodyPr>
          <a:lstStyle/>
          <a:p>
            <a:r>
              <a:rPr lang="en-US" dirty="0">
                <a:solidFill>
                  <a:schemeClr val="bg1"/>
                </a:solidFill>
              </a:rPr>
              <a:t>• Germany has the highest churn rate at </a:t>
            </a:r>
            <a:r>
              <a:rPr lang="en-US" b="1" dirty="0">
                <a:solidFill>
                  <a:schemeClr val="bg1"/>
                </a:solidFill>
              </a:rPr>
              <a:t>32.45%</a:t>
            </a:r>
            <a:r>
              <a:rPr lang="en-US" dirty="0">
                <a:solidFill>
                  <a:schemeClr val="bg1"/>
                </a:solidFill>
              </a:rPr>
              <a:t>, significantly higher than France and Spain. </a:t>
            </a:r>
            <a:br>
              <a:rPr lang="en-US" dirty="0">
                <a:solidFill>
                  <a:schemeClr val="bg1"/>
                </a:solidFill>
              </a:rPr>
            </a:br>
            <a:br>
              <a:rPr lang="en-US" dirty="0">
                <a:solidFill>
                  <a:schemeClr val="bg1"/>
                </a:solidFill>
              </a:rPr>
            </a:br>
            <a:r>
              <a:rPr lang="en-US" dirty="0">
                <a:solidFill>
                  <a:schemeClr val="bg1"/>
                </a:solidFill>
              </a:rPr>
              <a:t>• France (</a:t>
            </a:r>
            <a:r>
              <a:rPr lang="en-US" b="1" dirty="0">
                <a:solidFill>
                  <a:schemeClr val="bg1"/>
                </a:solidFill>
              </a:rPr>
              <a:t>16.52%</a:t>
            </a:r>
            <a:r>
              <a:rPr lang="en-US" dirty="0">
                <a:solidFill>
                  <a:schemeClr val="bg1"/>
                </a:solidFill>
              </a:rPr>
              <a:t>) and Spain (</a:t>
            </a:r>
            <a:r>
              <a:rPr lang="en-US" b="1" dirty="0">
                <a:solidFill>
                  <a:schemeClr val="bg1"/>
                </a:solidFill>
              </a:rPr>
              <a:t>16.07%</a:t>
            </a:r>
            <a:r>
              <a:rPr lang="en-US" dirty="0">
                <a:solidFill>
                  <a:schemeClr val="bg1"/>
                </a:solidFill>
              </a:rPr>
              <a:t>) demonstrate stronger customer retention and lower churn levels. </a:t>
            </a:r>
          </a:p>
          <a:p>
            <a:br>
              <a:rPr lang="en-US" dirty="0">
                <a:solidFill>
                  <a:schemeClr val="bg1"/>
                </a:solidFill>
              </a:rPr>
            </a:br>
            <a:r>
              <a:rPr lang="en-US" dirty="0">
                <a:solidFill>
                  <a:schemeClr val="bg1"/>
                </a:solidFill>
              </a:rPr>
              <a:t>• The churn rate in Germany is nearly </a:t>
            </a:r>
            <a:r>
              <a:rPr lang="en-US" b="1" dirty="0">
                <a:solidFill>
                  <a:schemeClr val="bg1"/>
                </a:solidFill>
              </a:rPr>
              <a:t>twice</a:t>
            </a:r>
            <a:r>
              <a:rPr lang="en-US" dirty="0">
                <a:solidFill>
                  <a:schemeClr val="bg1"/>
                </a:solidFill>
              </a:rPr>
              <a:t> that of the other two regions, indicating a notable retention challenge. </a:t>
            </a:r>
          </a:p>
          <a:p>
            <a:br>
              <a:rPr lang="en-US" b="1" dirty="0">
                <a:solidFill>
                  <a:schemeClr val="bg1"/>
                </a:solidFill>
              </a:rPr>
            </a:br>
            <a:r>
              <a:rPr lang="en-US" b="1" u="sng" dirty="0">
                <a:solidFill>
                  <a:schemeClr val="bg1"/>
                </a:solidFill>
              </a:rPr>
              <a:t>Key Insight</a:t>
            </a:r>
            <a:r>
              <a:rPr lang="en-US" b="1" dirty="0">
                <a:solidFill>
                  <a:schemeClr val="bg1"/>
                </a:solidFill>
              </a:rPr>
              <a:t>:</a:t>
            </a:r>
            <a:br>
              <a:rPr lang="en-US" dirty="0">
                <a:solidFill>
                  <a:schemeClr val="bg1"/>
                </a:solidFill>
              </a:rPr>
            </a:br>
            <a:r>
              <a:rPr lang="en-US" dirty="0">
                <a:solidFill>
                  <a:schemeClr val="bg1"/>
                </a:solidFill>
              </a:rPr>
              <a:t>Germany should be the primary focus for customer retention efforts, while France and Spain provide opportunities to strengthen customer engagement and drive business growth.</a:t>
            </a:r>
          </a:p>
          <a:p>
            <a:endParaRPr lang="en-US" dirty="0">
              <a:solidFill>
                <a:schemeClr val="bg1"/>
              </a:solidFill>
            </a:endParaRPr>
          </a:p>
        </p:txBody>
      </p:sp>
      <p:sp>
        <p:nvSpPr>
          <p:cNvPr id="5" name="TextBox 4">
            <a:extLst>
              <a:ext uri="{FF2B5EF4-FFF2-40B4-BE49-F238E27FC236}">
                <a16:creationId xmlns:a16="http://schemas.microsoft.com/office/drawing/2014/main" id="{84E1FFD8-6BBF-0D21-9857-58EC0B917BE0}"/>
              </a:ext>
            </a:extLst>
          </p:cNvPr>
          <p:cNvSpPr txBox="1"/>
          <p:nvPr/>
        </p:nvSpPr>
        <p:spPr>
          <a:xfrm>
            <a:off x="58130" y="145271"/>
            <a:ext cx="12075736" cy="707886"/>
          </a:xfrm>
          <a:prstGeom prst="rect">
            <a:avLst/>
          </a:prstGeom>
          <a:noFill/>
        </p:spPr>
        <p:txBody>
          <a:bodyPr wrap="square">
            <a:spAutoFit/>
          </a:bodyPr>
          <a:lstStyle/>
          <a:p>
            <a:pPr algn="ctr"/>
            <a:r>
              <a:rPr lang="en-US" sz="4000" b="1" u="sng" dirty="0">
                <a:solidFill>
                  <a:schemeClr val="bg1"/>
                </a:solidFill>
                <a:effectLst>
                  <a:outerShdw blurRad="38100" dist="38100" dir="2700000" algn="tl">
                    <a:srgbClr val="000000">
                      <a:alpha val="43137"/>
                    </a:srgbClr>
                  </a:outerShdw>
                </a:effectLst>
              </a:rPr>
              <a:t>Churn Rate by Geography</a:t>
            </a:r>
          </a:p>
        </p:txBody>
      </p:sp>
      <p:pic>
        <p:nvPicPr>
          <p:cNvPr id="9" name="Picture 8">
            <a:extLst>
              <a:ext uri="{FF2B5EF4-FFF2-40B4-BE49-F238E27FC236}">
                <a16:creationId xmlns:a16="http://schemas.microsoft.com/office/drawing/2014/main" id="{39F10951-7491-2719-B125-8D1654CB994B}"/>
              </a:ext>
            </a:extLst>
          </p:cNvPr>
          <p:cNvPicPr>
            <a:picLocks noChangeAspect="1"/>
          </p:cNvPicPr>
          <p:nvPr/>
        </p:nvPicPr>
        <p:blipFill>
          <a:blip r:embed="rId2"/>
          <a:stretch>
            <a:fillRect/>
          </a:stretch>
        </p:blipFill>
        <p:spPr>
          <a:xfrm>
            <a:off x="4024365" y="1095528"/>
            <a:ext cx="4143267" cy="1958510"/>
          </a:xfrm>
          <a:prstGeom prst="rect">
            <a:avLst/>
          </a:prstGeom>
        </p:spPr>
      </p:pic>
    </p:spTree>
    <p:extLst>
      <p:ext uri="{BB962C8B-B14F-4D97-AF65-F5344CB8AC3E}">
        <p14:creationId xmlns:p14="http://schemas.microsoft.com/office/powerpoint/2010/main" val="2273180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9E07221-38A5-E983-2870-755BF13E7519}"/>
              </a:ext>
            </a:extLst>
          </p:cNvPr>
          <p:cNvSpPr txBox="1"/>
          <p:nvPr/>
        </p:nvSpPr>
        <p:spPr>
          <a:xfrm>
            <a:off x="5561814" y="1393085"/>
            <a:ext cx="6410226" cy="5078313"/>
          </a:xfrm>
          <a:prstGeom prst="rect">
            <a:avLst/>
          </a:prstGeom>
          <a:noFill/>
        </p:spPr>
        <p:txBody>
          <a:bodyPr wrap="square">
            <a:spAutoFit/>
          </a:bodyPr>
          <a:lstStyle/>
          <a:p>
            <a:r>
              <a:rPr lang="en-US" dirty="0">
                <a:solidFill>
                  <a:schemeClr val="bg1"/>
                </a:solidFill>
              </a:rPr>
              <a:t>• Customers aged </a:t>
            </a:r>
            <a:r>
              <a:rPr lang="en-US" b="1" dirty="0">
                <a:solidFill>
                  <a:schemeClr val="bg1"/>
                </a:solidFill>
              </a:rPr>
              <a:t>20–40</a:t>
            </a:r>
            <a:r>
              <a:rPr lang="en-US" dirty="0">
                <a:solidFill>
                  <a:schemeClr val="bg1"/>
                </a:solidFill>
              </a:rPr>
              <a:t> form the largest customer segment and hold the highest account balances. </a:t>
            </a:r>
            <a:br>
              <a:rPr lang="en-US" dirty="0">
                <a:solidFill>
                  <a:schemeClr val="bg1"/>
                </a:solidFill>
              </a:rPr>
            </a:br>
            <a:br>
              <a:rPr lang="en-US" dirty="0">
                <a:solidFill>
                  <a:schemeClr val="bg1"/>
                </a:solidFill>
              </a:rPr>
            </a:br>
            <a:r>
              <a:rPr lang="en-US" dirty="0">
                <a:solidFill>
                  <a:schemeClr val="bg1"/>
                </a:solidFill>
              </a:rPr>
              <a:t>• A significant portion of customers in this age range are inactive, increasing potential retention risk. </a:t>
            </a:r>
            <a:br>
              <a:rPr lang="en-US" dirty="0">
                <a:solidFill>
                  <a:schemeClr val="bg1"/>
                </a:solidFill>
              </a:rPr>
            </a:br>
            <a:br>
              <a:rPr lang="en-US" dirty="0">
                <a:solidFill>
                  <a:schemeClr val="bg1"/>
                </a:solidFill>
              </a:rPr>
            </a:br>
            <a:r>
              <a:rPr lang="en-US" dirty="0">
                <a:solidFill>
                  <a:schemeClr val="bg1"/>
                </a:solidFill>
              </a:rPr>
              <a:t>• Customer count and total balances decline noticeably beyond the age of 40. </a:t>
            </a:r>
          </a:p>
          <a:p>
            <a:br>
              <a:rPr lang="en-US" dirty="0">
                <a:solidFill>
                  <a:schemeClr val="bg1"/>
                </a:solidFill>
              </a:rPr>
            </a:br>
            <a:r>
              <a:rPr lang="en-US" dirty="0">
                <a:solidFill>
                  <a:schemeClr val="bg1"/>
                </a:solidFill>
              </a:rPr>
              <a:t>• The </a:t>
            </a:r>
            <a:r>
              <a:rPr lang="en-US" b="1" dirty="0">
                <a:solidFill>
                  <a:schemeClr val="bg1"/>
                </a:solidFill>
              </a:rPr>
              <a:t>30–40</a:t>
            </a:r>
            <a:r>
              <a:rPr lang="en-US" dirty="0">
                <a:solidFill>
                  <a:schemeClr val="bg1"/>
                </a:solidFill>
              </a:rPr>
              <a:t> age group combines high balances with high inactivity levels, making it a critical segment for analysis. </a:t>
            </a:r>
          </a:p>
          <a:p>
            <a:br>
              <a:rPr lang="en-US" b="1" dirty="0">
                <a:solidFill>
                  <a:schemeClr val="bg1"/>
                </a:solidFill>
              </a:rPr>
            </a:br>
            <a:r>
              <a:rPr lang="en-US" b="1" u="sng" dirty="0">
                <a:solidFill>
                  <a:schemeClr val="bg1"/>
                </a:solidFill>
              </a:rPr>
              <a:t>Key Insight</a:t>
            </a:r>
            <a:r>
              <a:rPr lang="en-US" b="1" dirty="0">
                <a:solidFill>
                  <a:schemeClr val="bg1"/>
                </a:solidFill>
              </a:rPr>
              <a:t>:</a:t>
            </a:r>
            <a:br>
              <a:rPr lang="en-US" dirty="0">
                <a:solidFill>
                  <a:schemeClr val="bg1"/>
                </a:solidFill>
              </a:rPr>
            </a:br>
            <a:r>
              <a:rPr lang="en-US" dirty="0">
                <a:solidFill>
                  <a:schemeClr val="bg1"/>
                </a:solidFill>
              </a:rPr>
              <a:t>The </a:t>
            </a:r>
            <a:r>
              <a:rPr lang="en-US" b="1" dirty="0">
                <a:solidFill>
                  <a:schemeClr val="bg1"/>
                </a:solidFill>
              </a:rPr>
              <a:t>30–40 age group</a:t>
            </a:r>
            <a:r>
              <a:rPr lang="en-US" dirty="0">
                <a:solidFill>
                  <a:schemeClr val="bg1"/>
                </a:solidFill>
              </a:rPr>
              <a:t> presents both the highest risk and opportunity, requiring targeted engagement and retention strategies to reduce churn and protect high-value customers.</a:t>
            </a:r>
          </a:p>
        </p:txBody>
      </p:sp>
      <p:sp>
        <p:nvSpPr>
          <p:cNvPr id="5" name="TextBox 4">
            <a:extLst>
              <a:ext uri="{FF2B5EF4-FFF2-40B4-BE49-F238E27FC236}">
                <a16:creationId xmlns:a16="http://schemas.microsoft.com/office/drawing/2014/main" id="{2B106127-86A0-B17D-7084-EB7C47262313}"/>
              </a:ext>
            </a:extLst>
          </p:cNvPr>
          <p:cNvSpPr txBox="1"/>
          <p:nvPr/>
        </p:nvSpPr>
        <p:spPr>
          <a:xfrm>
            <a:off x="386499" y="145271"/>
            <a:ext cx="11331019" cy="707886"/>
          </a:xfrm>
          <a:prstGeom prst="rect">
            <a:avLst/>
          </a:prstGeom>
          <a:noFill/>
        </p:spPr>
        <p:txBody>
          <a:bodyPr wrap="square">
            <a:spAutoFit/>
          </a:bodyPr>
          <a:lstStyle/>
          <a:p>
            <a:pPr algn="ctr">
              <a:buNone/>
            </a:pPr>
            <a:r>
              <a:rPr lang="en-US" sz="4000" b="1" u="sng">
                <a:solidFill>
                  <a:schemeClr val="bg1"/>
                </a:solidFill>
                <a:effectLst>
                  <a:outerShdw blurRad="38100" dist="38100" dir="2700000" algn="tl">
                    <a:srgbClr val="000000">
                      <a:alpha val="43137"/>
                    </a:srgbClr>
                  </a:outerShdw>
                </a:effectLst>
              </a:rPr>
              <a:t>Risk Management by Age Group</a:t>
            </a:r>
            <a:endParaRPr lang="en-US" sz="4000" b="1" u="sng" dirty="0">
              <a:solidFill>
                <a:schemeClr val="bg1"/>
              </a:solidFill>
              <a:effectLst>
                <a:outerShdw blurRad="38100" dist="38100" dir="2700000" algn="tl">
                  <a:srgbClr val="000000">
                    <a:alpha val="43137"/>
                  </a:srgbClr>
                </a:outerShdw>
              </a:effectLst>
            </a:endParaRPr>
          </a:p>
        </p:txBody>
      </p:sp>
      <p:pic>
        <p:nvPicPr>
          <p:cNvPr id="9" name="Picture 8">
            <a:extLst>
              <a:ext uri="{FF2B5EF4-FFF2-40B4-BE49-F238E27FC236}">
                <a16:creationId xmlns:a16="http://schemas.microsoft.com/office/drawing/2014/main" id="{6B40B7C9-EF43-0923-A7CC-25C107B23F07}"/>
              </a:ext>
            </a:extLst>
          </p:cNvPr>
          <p:cNvPicPr>
            <a:picLocks noChangeAspect="1"/>
          </p:cNvPicPr>
          <p:nvPr/>
        </p:nvPicPr>
        <p:blipFill>
          <a:blip r:embed="rId2"/>
          <a:stretch>
            <a:fillRect/>
          </a:stretch>
        </p:blipFill>
        <p:spPr>
          <a:xfrm>
            <a:off x="301451" y="1707101"/>
            <a:ext cx="4873450" cy="4050604"/>
          </a:xfrm>
          <a:prstGeom prst="rect">
            <a:avLst/>
          </a:prstGeom>
        </p:spPr>
      </p:pic>
    </p:spTree>
    <p:extLst>
      <p:ext uri="{BB962C8B-B14F-4D97-AF65-F5344CB8AC3E}">
        <p14:creationId xmlns:p14="http://schemas.microsoft.com/office/powerpoint/2010/main" val="32824431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FD9DB7-37BB-34B3-4A65-FAFAC1E276C1}"/>
              </a:ext>
            </a:extLst>
          </p:cNvPr>
          <p:cNvSpPr txBox="1"/>
          <p:nvPr/>
        </p:nvSpPr>
        <p:spPr>
          <a:xfrm>
            <a:off x="527901" y="1850113"/>
            <a:ext cx="6655324" cy="3970318"/>
          </a:xfrm>
          <a:prstGeom prst="rect">
            <a:avLst/>
          </a:prstGeom>
          <a:noFill/>
        </p:spPr>
        <p:txBody>
          <a:bodyPr wrap="square">
            <a:spAutoFit/>
          </a:bodyPr>
          <a:lstStyle/>
          <a:p>
            <a:r>
              <a:rPr lang="en-US" dirty="0">
                <a:solidFill>
                  <a:schemeClr val="bg1"/>
                </a:solidFill>
              </a:rPr>
              <a:t>• Customer Segmentation by Number of Products Most customers hold either 1 or 2 products, accounting for over 96% of the customer base.</a:t>
            </a:r>
            <a:br>
              <a:rPr lang="en-US" dirty="0">
                <a:solidFill>
                  <a:schemeClr val="bg1"/>
                </a:solidFill>
              </a:rPr>
            </a:br>
            <a:br>
              <a:rPr lang="en-US" dirty="0">
                <a:solidFill>
                  <a:schemeClr val="bg1"/>
                </a:solidFill>
              </a:rPr>
            </a:br>
            <a:r>
              <a:rPr lang="en-US" dirty="0">
                <a:solidFill>
                  <a:schemeClr val="bg1"/>
                </a:solidFill>
              </a:rPr>
              <a:t>• 50.84% of customers use 2 products, while 45.9% use only 1 product. </a:t>
            </a:r>
            <a:br>
              <a:rPr lang="en-US" dirty="0">
                <a:solidFill>
                  <a:schemeClr val="bg1"/>
                </a:solidFill>
              </a:rPr>
            </a:br>
            <a:br>
              <a:rPr lang="en-US" dirty="0">
                <a:solidFill>
                  <a:schemeClr val="bg1"/>
                </a:solidFill>
              </a:rPr>
            </a:br>
            <a:r>
              <a:rPr lang="en-US" dirty="0">
                <a:solidFill>
                  <a:schemeClr val="bg1"/>
                </a:solidFill>
              </a:rPr>
              <a:t>• Less than 4% of customers hold 3 or more products.  </a:t>
            </a:r>
            <a:br>
              <a:rPr lang="en-US" dirty="0">
                <a:solidFill>
                  <a:schemeClr val="bg1"/>
                </a:solidFill>
              </a:rPr>
            </a:br>
            <a:br>
              <a:rPr lang="en-US" dirty="0">
                <a:solidFill>
                  <a:schemeClr val="bg1"/>
                </a:solidFill>
              </a:rPr>
            </a:br>
            <a:r>
              <a:rPr lang="en-US" b="1" u="sng" dirty="0">
                <a:solidFill>
                  <a:schemeClr val="bg1"/>
                </a:solidFill>
              </a:rPr>
              <a:t>Insight</a:t>
            </a:r>
            <a:r>
              <a:rPr lang="en-US" dirty="0">
                <a:solidFill>
                  <a:schemeClr val="bg1"/>
                </a:solidFill>
              </a:rPr>
              <a:t> : The low adoption of multiple products highlights a significant cross-selling opportunity. Encouraging customers with 1–2 products to adopt additional services can increase customer value, engagement, and retention.</a:t>
            </a:r>
          </a:p>
        </p:txBody>
      </p:sp>
      <p:sp>
        <p:nvSpPr>
          <p:cNvPr id="5" name="TextBox 4">
            <a:extLst>
              <a:ext uri="{FF2B5EF4-FFF2-40B4-BE49-F238E27FC236}">
                <a16:creationId xmlns:a16="http://schemas.microsoft.com/office/drawing/2014/main" id="{D52A5E78-DFC7-2A0C-08E4-E527A3C9DA2A}"/>
              </a:ext>
            </a:extLst>
          </p:cNvPr>
          <p:cNvSpPr txBox="1"/>
          <p:nvPr/>
        </p:nvSpPr>
        <p:spPr>
          <a:xfrm>
            <a:off x="0" y="176854"/>
            <a:ext cx="12283126" cy="707886"/>
          </a:xfrm>
          <a:prstGeom prst="rect">
            <a:avLst/>
          </a:prstGeom>
          <a:noFill/>
        </p:spPr>
        <p:txBody>
          <a:bodyPr wrap="square">
            <a:spAutoFit/>
          </a:bodyPr>
          <a:lstStyle/>
          <a:p>
            <a:pPr algn="ctr">
              <a:buNone/>
            </a:pPr>
            <a:r>
              <a:rPr lang="en-US" sz="4000" b="1" u="sng" dirty="0">
                <a:solidFill>
                  <a:schemeClr val="bg1"/>
                </a:solidFill>
                <a:effectLst>
                  <a:outerShdw blurRad="38100" dist="38100" dir="2700000" algn="tl">
                    <a:srgbClr val="000000">
                      <a:alpha val="43137"/>
                    </a:srgbClr>
                  </a:outerShdw>
                </a:effectLst>
              </a:rPr>
              <a:t>Customer Segmentation by Number of Products</a:t>
            </a:r>
          </a:p>
        </p:txBody>
      </p:sp>
      <p:pic>
        <p:nvPicPr>
          <p:cNvPr id="7" name="Picture 6">
            <a:extLst>
              <a:ext uri="{FF2B5EF4-FFF2-40B4-BE49-F238E27FC236}">
                <a16:creationId xmlns:a16="http://schemas.microsoft.com/office/drawing/2014/main" id="{CA3C6CC4-FFB4-CF51-AE57-2B0914B52A2E}"/>
              </a:ext>
            </a:extLst>
          </p:cNvPr>
          <p:cNvPicPr>
            <a:picLocks noChangeAspect="1"/>
          </p:cNvPicPr>
          <p:nvPr/>
        </p:nvPicPr>
        <p:blipFill>
          <a:blip r:embed="rId2"/>
          <a:stretch>
            <a:fillRect/>
          </a:stretch>
        </p:blipFill>
        <p:spPr>
          <a:xfrm>
            <a:off x="7183225" y="1676337"/>
            <a:ext cx="4751109" cy="4144093"/>
          </a:xfrm>
          <a:prstGeom prst="rect">
            <a:avLst/>
          </a:prstGeom>
        </p:spPr>
      </p:pic>
    </p:spTree>
    <p:extLst>
      <p:ext uri="{BB962C8B-B14F-4D97-AF65-F5344CB8AC3E}">
        <p14:creationId xmlns:p14="http://schemas.microsoft.com/office/powerpoint/2010/main" val="39070040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FA620EB-6D8D-99F1-745E-3AAF1F1F0BC5}"/>
              </a:ext>
            </a:extLst>
          </p:cNvPr>
          <p:cNvSpPr txBox="1"/>
          <p:nvPr/>
        </p:nvSpPr>
        <p:spPr>
          <a:xfrm>
            <a:off x="721151" y="3429000"/>
            <a:ext cx="10671142" cy="3139321"/>
          </a:xfrm>
          <a:prstGeom prst="rect">
            <a:avLst/>
          </a:prstGeom>
          <a:noFill/>
        </p:spPr>
        <p:txBody>
          <a:bodyPr wrap="square">
            <a:spAutoFit/>
          </a:bodyPr>
          <a:lstStyle/>
          <a:p>
            <a:pPr>
              <a:buFont typeface="Arial" panose="020B0604020202020204" pitchFamily="34" charset="0"/>
              <a:buChar char="•"/>
            </a:pPr>
            <a:r>
              <a:rPr lang="en-US" dirty="0">
                <a:solidFill>
                  <a:schemeClr val="bg1"/>
                </a:solidFill>
              </a:rPr>
              <a:t> The customer base is relatively balanced across genders, with </a:t>
            </a:r>
            <a:r>
              <a:rPr lang="en-US" b="1" dirty="0">
                <a:solidFill>
                  <a:schemeClr val="bg1"/>
                </a:solidFill>
              </a:rPr>
              <a:t>Male customers accounting for 54.57% (5.46K)</a:t>
            </a:r>
            <a:r>
              <a:rPr lang="en-US" dirty="0">
                <a:solidFill>
                  <a:schemeClr val="bg1"/>
                </a:solidFill>
              </a:rPr>
              <a:t> and </a:t>
            </a:r>
            <a:r>
              <a:rPr lang="en-US" b="1" dirty="0">
                <a:solidFill>
                  <a:schemeClr val="bg1"/>
                </a:solidFill>
              </a:rPr>
              <a:t>Female customers accounting for 45.43% (4.54K)</a:t>
            </a:r>
            <a:r>
              <a:rPr lang="en-US" dirty="0">
                <a:solidFill>
                  <a:schemeClr val="bg1"/>
                </a:solidFill>
              </a:rPr>
              <a:t>.</a:t>
            </a:r>
            <a:br>
              <a:rPr lang="en-US" dirty="0">
                <a:solidFill>
                  <a:schemeClr val="bg1"/>
                </a:solidFill>
              </a:rPr>
            </a:br>
            <a:endParaRPr lang="en-US" dirty="0">
              <a:solidFill>
                <a:schemeClr val="bg1"/>
              </a:solidFill>
            </a:endParaRPr>
          </a:p>
          <a:p>
            <a:pPr>
              <a:buFont typeface="Arial" panose="020B0604020202020204" pitchFamily="34" charset="0"/>
              <a:buChar char="•"/>
            </a:pPr>
            <a:r>
              <a:rPr lang="en-US" dirty="0">
                <a:solidFill>
                  <a:schemeClr val="bg1"/>
                </a:solidFill>
              </a:rPr>
              <a:t> Male customers represent a slightly larger share of the overall customer population.</a:t>
            </a:r>
            <a:br>
              <a:rPr lang="en-US" dirty="0">
                <a:solidFill>
                  <a:schemeClr val="bg1"/>
                </a:solidFill>
              </a:rPr>
            </a:br>
            <a:endParaRPr lang="en-US" dirty="0">
              <a:solidFill>
                <a:schemeClr val="bg1"/>
              </a:solidFill>
            </a:endParaRPr>
          </a:p>
          <a:p>
            <a:pPr>
              <a:buFont typeface="Arial" panose="020B0604020202020204" pitchFamily="34" charset="0"/>
              <a:buChar char="•"/>
            </a:pPr>
            <a:r>
              <a:rPr lang="en-US" dirty="0">
                <a:solidFill>
                  <a:schemeClr val="bg1"/>
                </a:solidFill>
              </a:rPr>
              <a:t> The distribution indicates that the bank serves a diverse customer base without a significant gender imbalance.</a:t>
            </a:r>
            <a:br>
              <a:rPr lang="en-US" dirty="0">
                <a:solidFill>
                  <a:schemeClr val="bg1"/>
                </a:solidFill>
              </a:rPr>
            </a:br>
            <a:endParaRPr lang="en-US" dirty="0">
              <a:solidFill>
                <a:schemeClr val="bg1"/>
              </a:solidFill>
            </a:endParaRPr>
          </a:p>
          <a:p>
            <a:pPr>
              <a:buNone/>
            </a:pPr>
            <a:r>
              <a:rPr lang="en-US" b="1" u="sng" dirty="0">
                <a:solidFill>
                  <a:schemeClr val="bg1"/>
                </a:solidFill>
              </a:rPr>
              <a:t>Insight</a:t>
            </a:r>
            <a:r>
              <a:rPr lang="en-US" b="1" dirty="0">
                <a:solidFill>
                  <a:schemeClr val="bg1"/>
                </a:solidFill>
              </a:rPr>
              <a:t> :</a:t>
            </a:r>
            <a:r>
              <a:rPr lang="en-US" dirty="0">
                <a:solidFill>
                  <a:schemeClr val="bg1"/>
                </a:solidFill>
              </a:rPr>
              <a:t> Both genders contribute significantly to the customer base, highlighting the need for balanced customer engagement and retention strategies. Further analysis of churn, product usage, and account balances by gender can help identify targeted growth opportunities..</a:t>
            </a:r>
          </a:p>
        </p:txBody>
      </p:sp>
      <p:sp>
        <p:nvSpPr>
          <p:cNvPr id="5" name="TextBox 4">
            <a:extLst>
              <a:ext uri="{FF2B5EF4-FFF2-40B4-BE49-F238E27FC236}">
                <a16:creationId xmlns:a16="http://schemas.microsoft.com/office/drawing/2014/main" id="{8A1B20EE-FEB8-B5EF-A93E-6B0C46B0C9A4}"/>
              </a:ext>
            </a:extLst>
          </p:cNvPr>
          <p:cNvSpPr txBox="1"/>
          <p:nvPr/>
        </p:nvSpPr>
        <p:spPr>
          <a:xfrm>
            <a:off x="250812" y="118505"/>
            <a:ext cx="11485559" cy="707886"/>
          </a:xfrm>
          <a:prstGeom prst="rect">
            <a:avLst/>
          </a:prstGeom>
          <a:noFill/>
        </p:spPr>
        <p:txBody>
          <a:bodyPr wrap="square">
            <a:spAutoFit/>
          </a:bodyPr>
          <a:lstStyle/>
          <a:p>
            <a:pPr algn="ctr">
              <a:buNone/>
            </a:pPr>
            <a:r>
              <a:rPr lang="en-US" sz="4000" b="1" u="sng" dirty="0">
                <a:solidFill>
                  <a:schemeClr val="bg1"/>
                </a:solidFill>
                <a:effectLst>
                  <a:outerShdw blurRad="38100" dist="38100" dir="2700000" algn="tl">
                    <a:srgbClr val="000000">
                      <a:alpha val="43137"/>
                    </a:srgbClr>
                  </a:outerShdw>
                </a:effectLst>
              </a:rPr>
              <a:t>Gender Distribution Analysis</a:t>
            </a:r>
          </a:p>
        </p:txBody>
      </p:sp>
      <p:pic>
        <p:nvPicPr>
          <p:cNvPr id="7" name="Picture 6">
            <a:extLst>
              <a:ext uri="{FF2B5EF4-FFF2-40B4-BE49-F238E27FC236}">
                <a16:creationId xmlns:a16="http://schemas.microsoft.com/office/drawing/2014/main" id="{ED1D0836-C86E-4501-CC57-D069BB938E53}"/>
              </a:ext>
            </a:extLst>
          </p:cNvPr>
          <p:cNvPicPr>
            <a:picLocks noChangeAspect="1"/>
          </p:cNvPicPr>
          <p:nvPr/>
        </p:nvPicPr>
        <p:blipFill>
          <a:blip r:embed="rId2"/>
          <a:stretch>
            <a:fillRect/>
          </a:stretch>
        </p:blipFill>
        <p:spPr>
          <a:xfrm>
            <a:off x="3685879" y="942680"/>
            <a:ext cx="4694549" cy="2403835"/>
          </a:xfrm>
          <a:prstGeom prst="rect">
            <a:avLst/>
          </a:prstGeom>
        </p:spPr>
      </p:pic>
    </p:spTree>
    <p:extLst>
      <p:ext uri="{BB962C8B-B14F-4D97-AF65-F5344CB8AC3E}">
        <p14:creationId xmlns:p14="http://schemas.microsoft.com/office/powerpoint/2010/main" val="20691586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5ADECE1-7D1A-A443-8BE7-233496C30358}"/>
              </a:ext>
            </a:extLst>
          </p:cNvPr>
          <p:cNvPicPr>
            <a:picLocks noChangeAspect="1"/>
          </p:cNvPicPr>
          <p:nvPr/>
        </p:nvPicPr>
        <p:blipFill>
          <a:blip r:embed="rId2"/>
          <a:stretch>
            <a:fillRect/>
          </a:stretch>
        </p:blipFill>
        <p:spPr>
          <a:xfrm>
            <a:off x="1045256" y="4868603"/>
            <a:ext cx="10067827" cy="1582796"/>
          </a:xfrm>
          <a:prstGeom prst="rect">
            <a:avLst/>
          </a:prstGeom>
        </p:spPr>
      </p:pic>
      <p:sp>
        <p:nvSpPr>
          <p:cNvPr id="5" name="TextBox 4">
            <a:extLst>
              <a:ext uri="{FF2B5EF4-FFF2-40B4-BE49-F238E27FC236}">
                <a16:creationId xmlns:a16="http://schemas.microsoft.com/office/drawing/2014/main" id="{A9C87B10-8026-5EBA-AC53-C1848F6712E1}"/>
              </a:ext>
            </a:extLst>
          </p:cNvPr>
          <p:cNvSpPr txBox="1"/>
          <p:nvPr/>
        </p:nvSpPr>
        <p:spPr>
          <a:xfrm>
            <a:off x="384264" y="1197999"/>
            <a:ext cx="11559498" cy="3416320"/>
          </a:xfrm>
          <a:prstGeom prst="rect">
            <a:avLst/>
          </a:prstGeom>
          <a:noFill/>
        </p:spPr>
        <p:txBody>
          <a:bodyPr wrap="square">
            <a:spAutoFit/>
          </a:bodyPr>
          <a:lstStyle/>
          <a:p>
            <a:r>
              <a:rPr lang="en-US" dirty="0">
                <a:solidFill>
                  <a:schemeClr val="bg1"/>
                </a:solidFill>
              </a:rPr>
              <a:t>• The scatter plot compares customer account balances against their estimated salaries. </a:t>
            </a:r>
            <a:br>
              <a:rPr lang="en-US" dirty="0">
                <a:solidFill>
                  <a:schemeClr val="bg1"/>
                </a:solidFill>
              </a:rPr>
            </a:br>
            <a:br>
              <a:rPr lang="en-US" dirty="0">
                <a:solidFill>
                  <a:schemeClr val="bg1"/>
                </a:solidFill>
              </a:rPr>
            </a:br>
            <a:r>
              <a:rPr lang="en-US" dirty="0">
                <a:solidFill>
                  <a:schemeClr val="bg1"/>
                </a:solidFill>
              </a:rPr>
              <a:t>• Customer balances are distributed across all salary levels, with no clear upward or downward trend.</a:t>
            </a:r>
            <a:br>
              <a:rPr lang="en-US" dirty="0">
                <a:solidFill>
                  <a:schemeClr val="bg1"/>
                </a:solidFill>
              </a:rPr>
            </a:br>
            <a:br>
              <a:rPr lang="en-US" dirty="0">
                <a:solidFill>
                  <a:schemeClr val="bg1"/>
                </a:solidFill>
              </a:rPr>
            </a:br>
            <a:r>
              <a:rPr lang="en-US" dirty="0">
                <a:solidFill>
                  <a:schemeClr val="bg1"/>
                </a:solidFill>
              </a:rPr>
              <a:t>• High-balance customers are present in both lower and higher salary groups. </a:t>
            </a:r>
            <a:br>
              <a:rPr lang="en-US" dirty="0">
                <a:solidFill>
                  <a:schemeClr val="bg1"/>
                </a:solidFill>
              </a:rPr>
            </a:br>
            <a:br>
              <a:rPr lang="en-US" dirty="0">
                <a:solidFill>
                  <a:schemeClr val="bg1"/>
                </a:solidFill>
              </a:rPr>
            </a:br>
            <a:r>
              <a:rPr lang="en-US" dirty="0">
                <a:solidFill>
                  <a:schemeClr val="bg1"/>
                </a:solidFill>
              </a:rPr>
              <a:t>• The spread of data points suggests that account balance is not strongly influenced by salary alone. </a:t>
            </a:r>
            <a:br>
              <a:rPr lang="en-US" dirty="0">
                <a:solidFill>
                  <a:schemeClr val="bg1"/>
                </a:solidFill>
              </a:rPr>
            </a:br>
            <a:br>
              <a:rPr lang="en-US" dirty="0">
                <a:solidFill>
                  <a:schemeClr val="bg1"/>
                </a:solidFill>
              </a:rPr>
            </a:br>
            <a:r>
              <a:rPr lang="en-US" b="1" u="sng" dirty="0">
                <a:solidFill>
                  <a:schemeClr val="bg1"/>
                </a:solidFill>
              </a:rPr>
              <a:t>Insight</a:t>
            </a:r>
            <a:r>
              <a:rPr lang="en-US" dirty="0">
                <a:solidFill>
                  <a:schemeClr val="bg1"/>
                </a:solidFill>
              </a:rPr>
              <a:t>: Salary shows a weak correlation with account balance, suggesting that factors such as customer tenure, product usage, and account activity have a greater influence on customer value and financial behavior.</a:t>
            </a:r>
          </a:p>
          <a:p>
            <a:endParaRPr lang="en-US" dirty="0">
              <a:solidFill>
                <a:schemeClr val="bg1"/>
              </a:solidFill>
            </a:endParaRPr>
          </a:p>
        </p:txBody>
      </p:sp>
      <p:sp>
        <p:nvSpPr>
          <p:cNvPr id="7" name="TextBox 6">
            <a:extLst>
              <a:ext uri="{FF2B5EF4-FFF2-40B4-BE49-F238E27FC236}">
                <a16:creationId xmlns:a16="http://schemas.microsoft.com/office/drawing/2014/main" id="{686C67B6-93E2-042F-308F-2DFDDD1AE120}"/>
              </a:ext>
            </a:extLst>
          </p:cNvPr>
          <p:cNvSpPr txBox="1"/>
          <p:nvPr/>
        </p:nvSpPr>
        <p:spPr>
          <a:xfrm>
            <a:off x="384263" y="286085"/>
            <a:ext cx="11389815" cy="707886"/>
          </a:xfrm>
          <a:prstGeom prst="rect">
            <a:avLst/>
          </a:prstGeom>
          <a:noFill/>
        </p:spPr>
        <p:txBody>
          <a:bodyPr wrap="square">
            <a:spAutoFit/>
          </a:bodyPr>
          <a:lstStyle/>
          <a:p>
            <a:pPr algn="ctr"/>
            <a:r>
              <a:rPr lang="en-US" sz="4000" b="1" u="sng" dirty="0">
                <a:solidFill>
                  <a:schemeClr val="bg1"/>
                </a:solidFill>
                <a:effectLst>
                  <a:outerShdw blurRad="38100" dist="38100" dir="2700000" algn="tl">
                    <a:srgbClr val="000000">
                      <a:alpha val="43137"/>
                    </a:srgbClr>
                  </a:outerShdw>
                </a:effectLst>
              </a:rPr>
              <a:t>Salary vs Balance Analysis </a:t>
            </a:r>
          </a:p>
        </p:txBody>
      </p:sp>
    </p:spTree>
    <p:extLst>
      <p:ext uri="{BB962C8B-B14F-4D97-AF65-F5344CB8AC3E}">
        <p14:creationId xmlns:p14="http://schemas.microsoft.com/office/powerpoint/2010/main" val="178798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89BDC98-E609-34DF-BA4A-A98389515100}"/>
              </a:ext>
            </a:extLst>
          </p:cNvPr>
          <p:cNvSpPr txBox="1"/>
          <p:nvPr/>
        </p:nvSpPr>
        <p:spPr>
          <a:xfrm>
            <a:off x="282806" y="1310282"/>
            <a:ext cx="7286918" cy="5355312"/>
          </a:xfrm>
          <a:prstGeom prst="rect">
            <a:avLst/>
          </a:prstGeom>
          <a:noFill/>
        </p:spPr>
        <p:txBody>
          <a:bodyPr wrap="square">
            <a:spAutoFit/>
          </a:bodyPr>
          <a:lstStyle/>
          <a:p>
            <a:r>
              <a:rPr lang="en-US" dirty="0">
                <a:solidFill>
                  <a:schemeClr val="bg1"/>
                </a:solidFill>
              </a:rPr>
              <a:t>• Customer acquisition increased steadily from 708 customers in 2016 to 1,321 customers in 2019, reflecting consistent business growth. </a:t>
            </a:r>
            <a:br>
              <a:rPr lang="en-US" dirty="0">
                <a:solidFill>
                  <a:schemeClr val="bg1"/>
                </a:solidFill>
              </a:rPr>
            </a:br>
            <a:br>
              <a:rPr lang="en-US" dirty="0">
                <a:solidFill>
                  <a:schemeClr val="bg1"/>
                </a:solidFill>
              </a:rPr>
            </a:br>
            <a:r>
              <a:rPr lang="en-US" dirty="0">
                <a:solidFill>
                  <a:schemeClr val="bg1"/>
                </a:solidFill>
              </a:rPr>
              <a:t>• The largest increase occurred between 2018 and 2019, with 289 new customers added. </a:t>
            </a:r>
            <a:br>
              <a:rPr lang="en-US" dirty="0">
                <a:solidFill>
                  <a:schemeClr val="bg1"/>
                </a:solidFill>
              </a:rPr>
            </a:br>
            <a:br>
              <a:rPr lang="en-US" dirty="0">
                <a:solidFill>
                  <a:schemeClr val="bg1"/>
                </a:solidFill>
              </a:rPr>
            </a:br>
            <a:r>
              <a:rPr lang="en-US" dirty="0">
                <a:solidFill>
                  <a:schemeClr val="bg1"/>
                </a:solidFill>
              </a:rPr>
              <a:t>• The upward trend suggests effective customer acquisition and engagement strategies during this period. </a:t>
            </a:r>
            <a:br>
              <a:rPr lang="en-US" dirty="0">
                <a:solidFill>
                  <a:schemeClr val="bg1"/>
                </a:solidFill>
              </a:rPr>
            </a:br>
            <a:br>
              <a:rPr lang="en-US" dirty="0">
                <a:solidFill>
                  <a:schemeClr val="bg1"/>
                </a:solidFill>
              </a:rPr>
            </a:br>
            <a:r>
              <a:rPr lang="en-US" dirty="0">
                <a:solidFill>
                  <a:schemeClr val="bg1"/>
                </a:solidFill>
              </a:rPr>
              <a:t>• Growing customer numbers indicate increased trust in the bank's products and services.  </a:t>
            </a:r>
            <a:br>
              <a:rPr lang="en-US" dirty="0">
                <a:solidFill>
                  <a:schemeClr val="bg1"/>
                </a:solidFill>
              </a:rPr>
            </a:br>
            <a:br>
              <a:rPr lang="en-US" dirty="0">
                <a:solidFill>
                  <a:schemeClr val="bg1"/>
                </a:solidFill>
              </a:rPr>
            </a:br>
            <a:r>
              <a:rPr lang="en-US" b="1" u="sng" dirty="0">
                <a:solidFill>
                  <a:schemeClr val="bg1"/>
                </a:solidFill>
              </a:rPr>
              <a:t>Insight</a:t>
            </a:r>
            <a:r>
              <a:rPr lang="en-US" dirty="0">
                <a:solidFill>
                  <a:schemeClr val="bg1"/>
                </a:solidFill>
              </a:rPr>
              <a:t>: The bank experienced strong customer growth, particularly in 2019, indicating successful customer acquisition efforts. Maintaining this growth will require a balanced focus on both customer acquisition and retention to maximize long-term customer value.</a:t>
            </a:r>
          </a:p>
          <a:p>
            <a:endParaRPr lang="en-US" dirty="0">
              <a:solidFill>
                <a:schemeClr val="bg1"/>
              </a:solidFill>
            </a:endParaRPr>
          </a:p>
        </p:txBody>
      </p:sp>
      <p:sp>
        <p:nvSpPr>
          <p:cNvPr id="5" name="TextBox 4">
            <a:extLst>
              <a:ext uri="{FF2B5EF4-FFF2-40B4-BE49-F238E27FC236}">
                <a16:creationId xmlns:a16="http://schemas.microsoft.com/office/drawing/2014/main" id="{CAF97EE5-BFD3-A924-E2AD-9E62B887CBB1}"/>
              </a:ext>
            </a:extLst>
          </p:cNvPr>
          <p:cNvSpPr txBox="1"/>
          <p:nvPr/>
        </p:nvSpPr>
        <p:spPr>
          <a:xfrm>
            <a:off x="490193" y="192406"/>
            <a:ext cx="11133056" cy="707886"/>
          </a:xfrm>
          <a:prstGeom prst="rect">
            <a:avLst/>
          </a:prstGeom>
          <a:noFill/>
        </p:spPr>
        <p:txBody>
          <a:bodyPr wrap="square">
            <a:spAutoFit/>
          </a:bodyPr>
          <a:lstStyle/>
          <a:p>
            <a:pPr algn="ctr"/>
            <a:r>
              <a:rPr lang="en-US" sz="4000" b="1" u="sng" dirty="0">
                <a:solidFill>
                  <a:schemeClr val="bg1"/>
                </a:solidFill>
                <a:effectLst>
                  <a:outerShdw blurRad="38100" dist="38100" dir="2700000" algn="tl">
                    <a:srgbClr val="000000">
                      <a:alpha val="43137"/>
                    </a:srgbClr>
                  </a:outerShdw>
                </a:effectLst>
              </a:rPr>
              <a:t>Customer Acquisition Over the Years </a:t>
            </a:r>
          </a:p>
        </p:txBody>
      </p:sp>
      <p:pic>
        <p:nvPicPr>
          <p:cNvPr id="7" name="Picture 6">
            <a:extLst>
              <a:ext uri="{FF2B5EF4-FFF2-40B4-BE49-F238E27FC236}">
                <a16:creationId xmlns:a16="http://schemas.microsoft.com/office/drawing/2014/main" id="{A32D9390-334F-04E2-C4E1-AA4B380DFD3E}"/>
              </a:ext>
            </a:extLst>
          </p:cNvPr>
          <p:cNvPicPr>
            <a:picLocks noChangeAspect="1"/>
          </p:cNvPicPr>
          <p:nvPr/>
        </p:nvPicPr>
        <p:blipFill>
          <a:blip r:embed="rId2"/>
          <a:stretch>
            <a:fillRect/>
          </a:stretch>
        </p:blipFill>
        <p:spPr>
          <a:xfrm>
            <a:off x="7569724" y="1847654"/>
            <a:ext cx="4477732" cy="3544477"/>
          </a:xfrm>
          <a:prstGeom prst="rect">
            <a:avLst/>
          </a:prstGeom>
        </p:spPr>
      </p:pic>
    </p:spTree>
    <p:extLst>
      <p:ext uri="{BB962C8B-B14F-4D97-AF65-F5344CB8AC3E}">
        <p14:creationId xmlns:p14="http://schemas.microsoft.com/office/powerpoint/2010/main" val="24710190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A27AD8-4C3F-5A4B-5E7E-135B2B5192C1}"/>
              </a:ext>
            </a:extLst>
          </p:cNvPr>
          <p:cNvSpPr txBox="1"/>
          <p:nvPr/>
        </p:nvSpPr>
        <p:spPr>
          <a:xfrm>
            <a:off x="414779" y="211259"/>
            <a:ext cx="11557262" cy="707886"/>
          </a:xfrm>
          <a:prstGeom prst="rect">
            <a:avLst/>
          </a:prstGeom>
          <a:noFill/>
        </p:spPr>
        <p:txBody>
          <a:bodyPr wrap="square">
            <a:spAutoFit/>
          </a:bodyPr>
          <a:lstStyle/>
          <a:p>
            <a:pPr algn="ctr"/>
            <a:r>
              <a:rPr lang="en-US" sz="4000" b="1" u="sng" dirty="0">
                <a:solidFill>
                  <a:schemeClr val="bg1"/>
                </a:solidFill>
                <a:effectLst>
                  <a:outerShdw blurRad="38100" dist="38100" dir="2700000" algn="tl">
                    <a:srgbClr val="000000">
                      <a:alpha val="43137"/>
                    </a:srgbClr>
                  </a:outerShdw>
                </a:effectLst>
              </a:rPr>
              <a:t>Customer Overview Dashboard</a:t>
            </a:r>
          </a:p>
        </p:txBody>
      </p:sp>
      <p:pic>
        <p:nvPicPr>
          <p:cNvPr id="5" name="Picture 4">
            <a:extLst>
              <a:ext uri="{FF2B5EF4-FFF2-40B4-BE49-F238E27FC236}">
                <a16:creationId xmlns:a16="http://schemas.microsoft.com/office/drawing/2014/main" id="{45E0FBDF-72DC-A08E-0C0C-A342D5EB23C4}"/>
              </a:ext>
            </a:extLst>
          </p:cNvPr>
          <p:cNvPicPr>
            <a:picLocks noChangeAspect="1"/>
          </p:cNvPicPr>
          <p:nvPr/>
        </p:nvPicPr>
        <p:blipFill>
          <a:blip r:embed="rId2"/>
          <a:stretch>
            <a:fillRect/>
          </a:stretch>
        </p:blipFill>
        <p:spPr>
          <a:xfrm>
            <a:off x="763572" y="1027522"/>
            <a:ext cx="10718276" cy="5542960"/>
          </a:xfrm>
          <a:prstGeom prst="rect">
            <a:avLst/>
          </a:prstGeom>
        </p:spPr>
      </p:pic>
    </p:spTree>
    <p:extLst>
      <p:ext uri="{BB962C8B-B14F-4D97-AF65-F5344CB8AC3E}">
        <p14:creationId xmlns:p14="http://schemas.microsoft.com/office/powerpoint/2010/main" val="3597710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9CD6DAA-7334-416D-3479-FF99E9E07A87}"/>
              </a:ext>
            </a:extLst>
          </p:cNvPr>
          <p:cNvSpPr txBox="1"/>
          <p:nvPr/>
        </p:nvSpPr>
        <p:spPr>
          <a:xfrm>
            <a:off x="405352" y="258394"/>
            <a:ext cx="11557261" cy="707886"/>
          </a:xfrm>
          <a:prstGeom prst="rect">
            <a:avLst/>
          </a:prstGeom>
          <a:noFill/>
        </p:spPr>
        <p:txBody>
          <a:bodyPr wrap="square">
            <a:spAutoFit/>
          </a:bodyPr>
          <a:lstStyle/>
          <a:p>
            <a:pPr algn="ctr"/>
            <a:r>
              <a:rPr lang="en-US" sz="4000" b="1" u="sng" dirty="0">
                <a:solidFill>
                  <a:schemeClr val="bg1"/>
                </a:solidFill>
                <a:effectLst>
                  <a:outerShdw blurRad="38100" dist="38100" dir="2700000" algn="tl">
                    <a:srgbClr val="000000">
                      <a:alpha val="43137"/>
                    </a:srgbClr>
                  </a:outerShdw>
                </a:effectLst>
              </a:rPr>
              <a:t>Customer Churn Analysis Dashboard</a:t>
            </a:r>
          </a:p>
        </p:txBody>
      </p:sp>
      <p:pic>
        <p:nvPicPr>
          <p:cNvPr id="5" name="Picture 4">
            <a:extLst>
              <a:ext uri="{FF2B5EF4-FFF2-40B4-BE49-F238E27FC236}">
                <a16:creationId xmlns:a16="http://schemas.microsoft.com/office/drawing/2014/main" id="{652E47E2-CB71-516B-1D8B-637B304399C8}"/>
              </a:ext>
            </a:extLst>
          </p:cNvPr>
          <p:cNvPicPr>
            <a:picLocks noChangeAspect="1"/>
          </p:cNvPicPr>
          <p:nvPr/>
        </p:nvPicPr>
        <p:blipFill>
          <a:blip r:embed="rId2"/>
          <a:stretch>
            <a:fillRect/>
          </a:stretch>
        </p:blipFill>
        <p:spPr>
          <a:xfrm>
            <a:off x="518474" y="1046375"/>
            <a:ext cx="11293312" cy="5553231"/>
          </a:xfrm>
          <a:prstGeom prst="rect">
            <a:avLst/>
          </a:prstGeom>
        </p:spPr>
      </p:pic>
    </p:spTree>
    <p:extLst>
      <p:ext uri="{BB962C8B-B14F-4D97-AF65-F5344CB8AC3E}">
        <p14:creationId xmlns:p14="http://schemas.microsoft.com/office/powerpoint/2010/main" val="35338707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5343C7-F6D8-2885-F015-0580773986A0}"/>
              </a:ext>
            </a:extLst>
          </p:cNvPr>
          <p:cNvSpPr txBox="1"/>
          <p:nvPr/>
        </p:nvSpPr>
        <p:spPr>
          <a:xfrm>
            <a:off x="301658" y="211259"/>
            <a:ext cx="11632675" cy="707886"/>
          </a:xfrm>
          <a:prstGeom prst="rect">
            <a:avLst/>
          </a:prstGeom>
          <a:noFill/>
        </p:spPr>
        <p:txBody>
          <a:bodyPr wrap="square">
            <a:spAutoFit/>
          </a:bodyPr>
          <a:lstStyle/>
          <a:p>
            <a:pPr algn="ctr"/>
            <a:r>
              <a:rPr lang="en-US" sz="4000" b="1" u="sng" dirty="0">
                <a:solidFill>
                  <a:schemeClr val="bg1"/>
                </a:solidFill>
                <a:effectLst>
                  <a:outerShdw blurRad="38100" dist="38100" dir="2700000" algn="tl">
                    <a:srgbClr val="000000">
                      <a:alpha val="43137"/>
                    </a:srgbClr>
                  </a:outerShdw>
                </a:effectLst>
              </a:rPr>
              <a:t>Financial Insights Dashboard</a:t>
            </a:r>
          </a:p>
        </p:txBody>
      </p:sp>
      <p:pic>
        <p:nvPicPr>
          <p:cNvPr id="5" name="Picture 4">
            <a:extLst>
              <a:ext uri="{FF2B5EF4-FFF2-40B4-BE49-F238E27FC236}">
                <a16:creationId xmlns:a16="http://schemas.microsoft.com/office/drawing/2014/main" id="{AC8ECAFE-DC6E-E84B-02A6-16306A5751AE}"/>
              </a:ext>
            </a:extLst>
          </p:cNvPr>
          <p:cNvPicPr>
            <a:picLocks noChangeAspect="1"/>
          </p:cNvPicPr>
          <p:nvPr/>
        </p:nvPicPr>
        <p:blipFill>
          <a:blip r:embed="rId2"/>
          <a:stretch>
            <a:fillRect/>
          </a:stretch>
        </p:blipFill>
        <p:spPr>
          <a:xfrm>
            <a:off x="443060" y="999241"/>
            <a:ext cx="11397006" cy="5571241"/>
          </a:xfrm>
          <a:prstGeom prst="rect">
            <a:avLst/>
          </a:prstGeom>
        </p:spPr>
      </p:pic>
    </p:spTree>
    <p:extLst>
      <p:ext uri="{BB962C8B-B14F-4D97-AF65-F5344CB8AC3E}">
        <p14:creationId xmlns:p14="http://schemas.microsoft.com/office/powerpoint/2010/main" val="32158622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711903-CA6F-70BD-4D35-80D043948033}"/>
              </a:ext>
            </a:extLst>
          </p:cNvPr>
          <p:cNvSpPr txBox="1"/>
          <p:nvPr/>
        </p:nvSpPr>
        <p:spPr>
          <a:xfrm>
            <a:off x="311085" y="1196760"/>
            <a:ext cx="7315200" cy="5355312"/>
          </a:xfrm>
          <a:prstGeom prst="rect">
            <a:avLst/>
          </a:prstGeom>
          <a:noFill/>
        </p:spPr>
        <p:txBody>
          <a:bodyPr wrap="square">
            <a:spAutoFit/>
          </a:bodyPr>
          <a:lstStyle/>
          <a:p>
            <a:pPr>
              <a:buNone/>
            </a:pPr>
            <a:r>
              <a:rPr lang="en-US" b="1" u="sng" dirty="0">
                <a:solidFill>
                  <a:schemeClr val="bg1"/>
                </a:solidFill>
              </a:rPr>
              <a:t>Key Findings</a:t>
            </a:r>
            <a:r>
              <a:rPr lang="en-US" b="1" dirty="0">
                <a:solidFill>
                  <a:schemeClr val="bg1"/>
                </a:solidFill>
              </a:rPr>
              <a:t> : </a:t>
            </a:r>
            <a:br>
              <a:rPr lang="en-US" b="1" dirty="0">
                <a:solidFill>
                  <a:schemeClr val="bg1"/>
                </a:solidFill>
              </a:rPr>
            </a:br>
            <a:endParaRPr lang="en-US" dirty="0">
              <a:solidFill>
                <a:schemeClr val="bg1"/>
              </a:solidFill>
            </a:endParaRPr>
          </a:p>
          <a:p>
            <a:pPr>
              <a:buFont typeface="Arial" panose="020B0604020202020204" pitchFamily="34" charset="0"/>
              <a:buChar char="•"/>
            </a:pPr>
            <a:r>
              <a:rPr lang="en-US" dirty="0">
                <a:solidFill>
                  <a:schemeClr val="bg1"/>
                </a:solidFill>
              </a:rPr>
              <a:t> Higher churn is concentrated in Germany, inactive customers, and customers with lower tenure.</a:t>
            </a:r>
          </a:p>
          <a:p>
            <a:pPr>
              <a:buFont typeface="Arial" panose="020B0604020202020204" pitchFamily="34" charset="0"/>
              <a:buChar char="•"/>
            </a:pPr>
            <a:r>
              <a:rPr lang="en-US" dirty="0">
                <a:solidFill>
                  <a:schemeClr val="bg1"/>
                </a:solidFill>
              </a:rPr>
              <a:t> Customers aged 20–40 hold the highest balances, presenting both growth opportunities and churn risks.</a:t>
            </a:r>
          </a:p>
          <a:p>
            <a:pPr>
              <a:buFont typeface="Arial" panose="020B0604020202020204" pitchFamily="34" charset="0"/>
              <a:buChar char="•"/>
            </a:pPr>
            <a:r>
              <a:rPr lang="en-US" dirty="0">
                <a:solidFill>
                  <a:schemeClr val="bg1"/>
                </a:solidFill>
              </a:rPr>
              <a:t> Most customers use only 1–2 products, indicating potential for cross-selling.</a:t>
            </a:r>
            <a:br>
              <a:rPr lang="en-US" dirty="0">
                <a:solidFill>
                  <a:schemeClr val="bg1"/>
                </a:solidFill>
              </a:rPr>
            </a:br>
            <a:endParaRPr lang="en-US" dirty="0">
              <a:solidFill>
                <a:schemeClr val="bg1"/>
              </a:solidFill>
            </a:endParaRPr>
          </a:p>
          <a:p>
            <a:pPr>
              <a:buNone/>
            </a:pPr>
            <a:r>
              <a:rPr lang="en-US" b="1" u="sng" dirty="0">
                <a:solidFill>
                  <a:schemeClr val="bg1"/>
                </a:solidFill>
              </a:rPr>
              <a:t>Recommendations</a:t>
            </a:r>
            <a:r>
              <a:rPr lang="en-US" b="1" dirty="0">
                <a:solidFill>
                  <a:schemeClr val="bg1"/>
                </a:solidFill>
              </a:rPr>
              <a:t> :</a:t>
            </a:r>
            <a:br>
              <a:rPr lang="en-US" b="1" dirty="0">
                <a:solidFill>
                  <a:schemeClr val="bg1"/>
                </a:solidFill>
              </a:rPr>
            </a:br>
            <a:endParaRPr lang="en-US" dirty="0">
              <a:solidFill>
                <a:schemeClr val="bg1"/>
              </a:solidFill>
            </a:endParaRPr>
          </a:p>
          <a:p>
            <a:pPr>
              <a:buFont typeface="Arial" panose="020B0604020202020204" pitchFamily="34" charset="0"/>
              <a:buChar char="•"/>
            </a:pPr>
            <a:r>
              <a:rPr lang="en-US" dirty="0">
                <a:solidFill>
                  <a:schemeClr val="bg1"/>
                </a:solidFill>
              </a:rPr>
              <a:t>Increase engagement through personalized offers and product bundling.</a:t>
            </a:r>
          </a:p>
          <a:p>
            <a:pPr>
              <a:buFont typeface="Arial" panose="020B0604020202020204" pitchFamily="34" charset="0"/>
              <a:buChar char="•"/>
            </a:pPr>
            <a:r>
              <a:rPr lang="en-US" dirty="0">
                <a:solidFill>
                  <a:schemeClr val="bg1"/>
                </a:solidFill>
              </a:rPr>
              <a:t>Regularly monitor churn trends by geography, age, and customer activity to support data-driven decisions.</a:t>
            </a:r>
            <a:br>
              <a:rPr lang="en-US" dirty="0">
                <a:solidFill>
                  <a:schemeClr val="bg1"/>
                </a:solidFill>
              </a:rPr>
            </a:br>
            <a:endParaRPr lang="en-US" dirty="0">
              <a:solidFill>
                <a:schemeClr val="bg1"/>
              </a:solidFill>
            </a:endParaRPr>
          </a:p>
          <a:p>
            <a:pPr>
              <a:buNone/>
            </a:pPr>
            <a:r>
              <a:rPr lang="en-US" b="1" u="sng" dirty="0">
                <a:solidFill>
                  <a:schemeClr val="bg1"/>
                </a:solidFill>
              </a:rPr>
              <a:t>Business Impact</a:t>
            </a:r>
            <a:r>
              <a:rPr lang="en-US" b="1" dirty="0">
                <a:solidFill>
                  <a:schemeClr val="bg1"/>
                </a:solidFill>
              </a:rPr>
              <a:t> : </a:t>
            </a:r>
            <a:br>
              <a:rPr lang="en-US" dirty="0">
                <a:solidFill>
                  <a:schemeClr val="bg1"/>
                </a:solidFill>
              </a:rPr>
            </a:br>
            <a:r>
              <a:rPr lang="en-US" dirty="0">
                <a:solidFill>
                  <a:schemeClr val="bg1"/>
                </a:solidFill>
              </a:rPr>
              <a:t>These initiatives can help reduce churn, improve customer loyalty, and increase revenue growth.</a:t>
            </a:r>
          </a:p>
        </p:txBody>
      </p:sp>
      <p:sp>
        <p:nvSpPr>
          <p:cNvPr id="5" name="TextBox 4">
            <a:extLst>
              <a:ext uri="{FF2B5EF4-FFF2-40B4-BE49-F238E27FC236}">
                <a16:creationId xmlns:a16="http://schemas.microsoft.com/office/drawing/2014/main" id="{371493FE-2B68-A44D-7617-DA7DF283C731}"/>
              </a:ext>
            </a:extLst>
          </p:cNvPr>
          <p:cNvSpPr txBox="1"/>
          <p:nvPr/>
        </p:nvSpPr>
        <p:spPr>
          <a:xfrm>
            <a:off x="454058" y="224113"/>
            <a:ext cx="11283884" cy="707886"/>
          </a:xfrm>
          <a:prstGeom prst="rect">
            <a:avLst/>
          </a:prstGeom>
          <a:noFill/>
        </p:spPr>
        <p:txBody>
          <a:bodyPr wrap="square">
            <a:spAutoFit/>
          </a:bodyPr>
          <a:lstStyle/>
          <a:p>
            <a:pPr algn="ctr">
              <a:buNone/>
            </a:pPr>
            <a:r>
              <a:rPr lang="en-US" sz="4000" b="1" u="sng" dirty="0">
                <a:solidFill>
                  <a:schemeClr val="bg1"/>
                </a:solidFill>
                <a:effectLst>
                  <a:outerShdw blurRad="38100" dist="38100" dir="2700000" algn="tl">
                    <a:srgbClr val="000000">
                      <a:alpha val="43137"/>
                    </a:srgbClr>
                  </a:outerShdw>
                </a:effectLst>
              </a:rPr>
              <a:t>Conclusion &amp; Recommendations</a:t>
            </a:r>
          </a:p>
        </p:txBody>
      </p:sp>
      <p:pic>
        <p:nvPicPr>
          <p:cNvPr id="7" name="Picture 6">
            <a:extLst>
              <a:ext uri="{FF2B5EF4-FFF2-40B4-BE49-F238E27FC236}">
                <a16:creationId xmlns:a16="http://schemas.microsoft.com/office/drawing/2014/main" id="{8FBB56FA-4386-F8EE-B411-03E7A32328D6}"/>
              </a:ext>
            </a:extLst>
          </p:cNvPr>
          <p:cNvPicPr>
            <a:picLocks noChangeAspect="1"/>
          </p:cNvPicPr>
          <p:nvPr/>
        </p:nvPicPr>
        <p:blipFill>
          <a:blip r:embed="rId2"/>
          <a:stretch>
            <a:fillRect/>
          </a:stretch>
        </p:blipFill>
        <p:spPr>
          <a:xfrm>
            <a:off x="7626286" y="2234153"/>
            <a:ext cx="4345755" cy="3318235"/>
          </a:xfrm>
          <a:prstGeom prst="rect">
            <a:avLst/>
          </a:prstGeom>
        </p:spPr>
      </p:pic>
    </p:spTree>
    <p:extLst>
      <p:ext uri="{BB962C8B-B14F-4D97-AF65-F5344CB8AC3E}">
        <p14:creationId xmlns:p14="http://schemas.microsoft.com/office/powerpoint/2010/main" val="3767749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BC8247-569B-D993-B285-C4DDEE8E3366}"/>
              </a:ext>
            </a:extLst>
          </p:cNvPr>
          <p:cNvSpPr txBox="1"/>
          <p:nvPr/>
        </p:nvSpPr>
        <p:spPr>
          <a:xfrm>
            <a:off x="480766" y="1322930"/>
            <a:ext cx="7390615" cy="4801314"/>
          </a:xfrm>
          <a:prstGeom prst="rect">
            <a:avLst/>
          </a:prstGeom>
          <a:noFill/>
        </p:spPr>
        <p:txBody>
          <a:bodyPr wrap="square">
            <a:spAutoFit/>
          </a:bodyPr>
          <a:lstStyle/>
          <a:p>
            <a:pPr>
              <a:buNone/>
            </a:pPr>
            <a:r>
              <a:rPr lang="en-US" b="1" u="sng" dirty="0">
                <a:solidFill>
                  <a:schemeClr val="bg1"/>
                </a:solidFill>
              </a:rPr>
              <a:t>Data Source</a:t>
            </a:r>
            <a:r>
              <a:rPr lang="en-US" b="1" dirty="0">
                <a:solidFill>
                  <a:schemeClr val="bg1"/>
                </a:solidFill>
              </a:rPr>
              <a:t> : </a:t>
            </a:r>
            <a:br>
              <a:rPr lang="en-US" b="1" dirty="0">
                <a:solidFill>
                  <a:schemeClr val="bg1"/>
                </a:solidFill>
              </a:rPr>
            </a:br>
            <a:endParaRPr lang="en-US" dirty="0">
              <a:solidFill>
                <a:schemeClr val="bg1"/>
              </a:solidFill>
            </a:endParaRPr>
          </a:p>
          <a:p>
            <a:pPr>
              <a:buFont typeface="Arial" panose="020B0604020202020204" pitchFamily="34" charset="0"/>
              <a:buChar char="•"/>
            </a:pPr>
            <a:r>
              <a:rPr lang="en-US" dirty="0">
                <a:solidFill>
                  <a:schemeClr val="bg1"/>
                </a:solidFill>
              </a:rPr>
              <a:t> Customer Churn Dataset provided by Newton School</a:t>
            </a:r>
          </a:p>
          <a:p>
            <a:pPr>
              <a:buNone/>
            </a:pPr>
            <a:r>
              <a:rPr lang="en-US" b="1" dirty="0">
                <a:solidFill>
                  <a:schemeClr val="bg1"/>
                </a:solidFill>
              </a:rPr>
              <a:t>Tools &amp; Technologies</a:t>
            </a:r>
            <a:endParaRPr lang="en-US" dirty="0">
              <a:solidFill>
                <a:schemeClr val="bg1"/>
              </a:solidFill>
            </a:endParaRPr>
          </a:p>
          <a:p>
            <a:pPr>
              <a:buFont typeface="Arial" panose="020B0604020202020204" pitchFamily="34" charset="0"/>
              <a:buChar char="•"/>
            </a:pPr>
            <a:r>
              <a:rPr lang="en-US" b="1" dirty="0">
                <a:solidFill>
                  <a:schemeClr val="bg1"/>
                </a:solidFill>
              </a:rPr>
              <a:t> MySQL</a:t>
            </a:r>
            <a:r>
              <a:rPr lang="en-US" dirty="0">
                <a:solidFill>
                  <a:schemeClr val="bg1"/>
                </a:solidFill>
              </a:rPr>
              <a:t> – Data cleaning, querying, and analysis</a:t>
            </a:r>
          </a:p>
          <a:p>
            <a:pPr>
              <a:buFont typeface="Arial" panose="020B0604020202020204" pitchFamily="34" charset="0"/>
              <a:buChar char="•"/>
            </a:pPr>
            <a:r>
              <a:rPr lang="en-US" b="1" dirty="0">
                <a:solidFill>
                  <a:schemeClr val="bg1"/>
                </a:solidFill>
              </a:rPr>
              <a:t> Power BI</a:t>
            </a:r>
            <a:r>
              <a:rPr lang="en-US" dirty="0">
                <a:solidFill>
                  <a:schemeClr val="bg1"/>
                </a:solidFill>
              </a:rPr>
              <a:t> – Data modeling, visualization, and dashboard development</a:t>
            </a:r>
          </a:p>
          <a:p>
            <a:pPr>
              <a:buFont typeface="Arial" panose="020B0604020202020204" pitchFamily="34" charset="0"/>
              <a:buChar char="•"/>
            </a:pPr>
            <a:r>
              <a:rPr lang="en-US" b="1" dirty="0">
                <a:solidFill>
                  <a:schemeClr val="bg1"/>
                </a:solidFill>
              </a:rPr>
              <a:t> MS Word</a:t>
            </a:r>
            <a:r>
              <a:rPr lang="en-US" dirty="0">
                <a:solidFill>
                  <a:schemeClr val="bg1"/>
                </a:solidFill>
              </a:rPr>
              <a:t> – Project documentation</a:t>
            </a:r>
          </a:p>
          <a:p>
            <a:pPr>
              <a:buFont typeface="Arial" panose="020B0604020202020204" pitchFamily="34" charset="0"/>
              <a:buChar char="•"/>
            </a:pPr>
            <a:r>
              <a:rPr lang="en-US" b="1" dirty="0">
                <a:solidFill>
                  <a:schemeClr val="bg1"/>
                </a:solidFill>
              </a:rPr>
              <a:t> MS PowerPoint</a:t>
            </a:r>
            <a:r>
              <a:rPr lang="en-US" dirty="0">
                <a:solidFill>
                  <a:schemeClr val="bg1"/>
                </a:solidFill>
              </a:rPr>
              <a:t> – Presentation design and reporting</a:t>
            </a:r>
            <a:br>
              <a:rPr lang="en-US" dirty="0">
                <a:solidFill>
                  <a:schemeClr val="bg1"/>
                </a:solidFill>
              </a:rPr>
            </a:br>
            <a:br>
              <a:rPr lang="en-US" dirty="0">
                <a:solidFill>
                  <a:schemeClr val="bg1"/>
                </a:solidFill>
              </a:rPr>
            </a:br>
            <a:r>
              <a:rPr lang="en-US" b="1" u="sng" dirty="0">
                <a:solidFill>
                  <a:schemeClr val="bg1"/>
                </a:solidFill>
              </a:rPr>
              <a:t>Skills Applied</a:t>
            </a:r>
            <a:r>
              <a:rPr lang="en-US" b="1" dirty="0">
                <a:solidFill>
                  <a:schemeClr val="bg1"/>
                </a:solidFill>
              </a:rPr>
              <a:t> : </a:t>
            </a:r>
            <a:br>
              <a:rPr lang="en-US" b="1" dirty="0">
                <a:solidFill>
                  <a:schemeClr val="bg1"/>
                </a:solidFill>
              </a:rPr>
            </a:br>
            <a:endParaRPr lang="en-US" dirty="0">
              <a:solidFill>
                <a:schemeClr val="bg1"/>
              </a:solidFill>
            </a:endParaRPr>
          </a:p>
          <a:p>
            <a:pPr>
              <a:buFont typeface="Arial" panose="020B0604020202020204" pitchFamily="34" charset="0"/>
              <a:buChar char="•"/>
            </a:pPr>
            <a:r>
              <a:rPr lang="en-US" dirty="0">
                <a:solidFill>
                  <a:schemeClr val="bg1"/>
                </a:solidFill>
              </a:rPr>
              <a:t> SQL Queries (JOINs, Aggregations, Window Functions)</a:t>
            </a:r>
          </a:p>
          <a:p>
            <a:pPr>
              <a:buFont typeface="Arial" panose="020B0604020202020204" pitchFamily="34" charset="0"/>
              <a:buChar char="•"/>
            </a:pPr>
            <a:r>
              <a:rPr lang="en-US" dirty="0">
                <a:solidFill>
                  <a:schemeClr val="bg1"/>
                </a:solidFill>
              </a:rPr>
              <a:t> Data Cleaning &amp; Transformation</a:t>
            </a:r>
          </a:p>
          <a:p>
            <a:pPr>
              <a:buFont typeface="Arial" panose="020B0604020202020204" pitchFamily="34" charset="0"/>
              <a:buChar char="•"/>
            </a:pPr>
            <a:r>
              <a:rPr lang="en-US" dirty="0">
                <a:solidFill>
                  <a:schemeClr val="bg1"/>
                </a:solidFill>
              </a:rPr>
              <a:t> DAX Measures &amp; Calculated Columns</a:t>
            </a:r>
          </a:p>
          <a:p>
            <a:pPr>
              <a:buFont typeface="Arial" panose="020B0604020202020204" pitchFamily="34" charset="0"/>
              <a:buChar char="•"/>
            </a:pPr>
            <a:r>
              <a:rPr lang="en-US" dirty="0">
                <a:solidFill>
                  <a:schemeClr val="bg1"/>
                </a:solidFill>
              </a:rPr>
              <a:t> Data Visualization &amp; Dashboard Design</a:t>
            </a:r>
          </a:p>
          <a:p>
            <a:pPr>
              <a:buFont typeface="Arial" panose="020B0604020202020204" pitchFamily="34" charset="0"/>
              <a:buChar char="•"/>
            </a:pPr>
            <a:r>
              <a:rPr lang="en-US" dirty="0">
                <a:solidFill>
                  <a:schemeClr val="bg1"/>
                </a:solidFill>
              </a:rPr>
              <a:t> Business Insight Generation</a:t>
            </a:r>
          </a:p>
        </p:txBody>
      </p:sp>
      <p:sp>
        <p:nvSpPr>
          <p:cNvPr id="5" name="TextBox 4">
            <a:extLst>
              <a:ext uri="{FF2B5EF4-FFF2-40B4-BE49-F238E27FC236}">
                <a16:creationId xmlns:a16="http://schemas.microsoft.com/office/drawing/2014/main" id="{AC3D2996-87B1-E0CF-40DB-7F0739A1664D}"/>
              </a:ext>
            </a:extLst>
          </p:cNvPr>
          <p:cNvSpPr txBox="1"/>
          <p:nvPr/>
        </p:nvSpPr>
        <p:spPr>
          <a:xfrm>
            <a:off x="358218" y="201833"/>
            <a:ext cx="11340445" cy="707886"/>
          </a:xfrm>
          <a:prstGeom prst="rect">
            <a:avLst/>
          </a:prstGeom>
          <a:noFill/>
        </p:spPr>
        <p:txBody>
          <a:bodyPr wrap="square">
            <a:spAutoFit/>
          </a:bodyPr>
          <a:lstStyle/>
          <a:p>
            <a:pPr algn="ctr">
              <a:buNone/>
            </a:pPr>
            <a:r>
              <a:rPr lang="en-US" sz="4000" b="1" u="sng" dirty="0">
                <a:solidFill>
                  <a:schemeClr val="bg1"/>
                </a:solidFill>
                <a:effectLst>
                  <a:outerShdw blurRad="38100" dist="38100" dir="2700000" algn="tl">
                    <a:srgbClr val="000000">
                      <a:alpha val="43137"/>
                    </a:srgbClr>
                  </a:outerShdw>
                </a:effectLst>
              </a:rPr>
              <a:t>References &amp; Tools Used</a:t>
            </a:r>
          </a:p>
        </p:txBody>
      </p:sp>
      <p:pic>
        <p:nvPicPr>
          <p:cNvPr id="7" name="Picture 6">
            <a:extLst>
              <a:ext uri="{FF2B5EF4-FFF2-40B4-BE49-F238E27FC236}">
                <a16:creationId xmlns:a16="http://schemas.microsoft.com/office/drawing/2014/main" id="{CC7E4FEF-04AB-76FC-4B92-30EB320B436B}"/>
              </a:ext>
            </a:extLst>
          </p:cNvPr>
          <p:cNvPicPr>
            <a:picLocks noChangeAspect="1"/>
          </p:cNvPicPr>
          <p:nvPr/>
        </p:nvPicPr>
        <p:blipFill>
          <a:blip r:embed="rId2"/>
          <a:stretch>
            <a:fillRect/>
          </a:stretch>
        </p:blipFill>
        <p:spPr>
          <a:xfrm>
            <a:off x="7013543" y="2111604"/>
            <a:ext cx="4779390" cy="3238994"/>
          </a:xfrm>
          <a:prstGeom prst="rect">
            <a:avLst/>
          </a:prstGeom>
        </p:spPr>
      </p:pic>
    </p:spTree>
    <p:extLst>
      <p:ext uri="{BB962C8B-B14F-4D97-AF65-F5344CB8AC3E}">
        <p14:creationId xmlns:p14="http://schemas.microsoft.com/office/powerpoint/2010/main" val="39544088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AC1735-04C5-E89B-B4FC-DE65FB0A387A}"/>
              </a:ext>
            </a:extLst>
          </p:cNvPr>
          <p:cNvPicPr>
            <a:picLocks noChangeAspect="1"/>
          </p:cNvPicPr>
          <p:nvPr/>
        </p:nvPicPr>
        <p:blipFill>
          <a:blip r:embed="rId2"/>
          <a:stretch>
            <a:fillRect/>
          </a:stretch>
        </p:blipFill>
        <p:spPr>
          <a:xfrm>
            <a:off x="2271860" y="1018095"/>
            <a:ext cx="7890235" cy="5090474"/>
          </a:xfrm>
          <a:prstGeom prst="rect">
            <a:avLst/>
          </a:prstGeom>
        </p:spPr>
      </p:pic>
    </p:spTree>
    <p:extLst>
      <p:ext uri="{BB962C8B-B14F-4D97-AF65-F5344CB8AC3E}">
        <p14:creationId xmlns:p14="http://schemas.microsoft.com/office/powerpoint/2010/main" val="3120632870"/>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3880</TotalTime>
  <Words>1435</Words>
  <Application>Microsoft Office PowerPoint</Application>
  <PresentationFormat>Widescreen</PresentationFormat>
  <Paragraphs>59</Paragraphs>
  <Slides>20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Century Gothic</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Sanjana Sharma</dc:creator>
  <cp:lastModifiedBy>Sanjana Sharma</cp:lastModifiedBy>
  <cp:revision>2</cp:revision>
  <dcterms:created xsi:type="dcterms:W3CDTF">2026-06-01T09:05:28Z</dcterms:created>
  <dcterms:modified xsi:type="dcterms:W3CDTF">2026-06-05T22:33:11Z</dcterms:modified>
</cp:coreProperties>
</file>